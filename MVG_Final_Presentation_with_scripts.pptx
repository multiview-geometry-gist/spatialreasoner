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70" r:id="rId3"/>
    <p:sldId id="257" r:id="rId4"/>
    <p:sldId id="258" r:id="rId5"/>
    <p:sldId id="259" r:id="rId6"/>
    <p:sldId id="260" r:id="rId7"/>
    <p:sldId id="261" r:id="rId8"/>
    <p:sldId id="263" r:id="rId9"/>
    <p:sldId id="262" r:id="rId10"/>
    <p:sldId id="271" r:id="rId11"/>
    <p:sldId id="264" r:id="rId12"/>
    <p:sldId id="272" r:id="rId13"/>
    <p:sldId id="273" r:id="rId14"/>
    <p:sldId id="274" r:id="rId15"/>
    <p:sldId id="275" r:id="rId16"/>
    <p:sldId id="266" r:id="rId17"/>
    <p:sldId id="267" r:id="rId18"/>
    <p:sldId id="276" r:id="rId19"/>
    <p:sldId id="268" r:id="rId20"/>
    <p:sldId id="269"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A2462C7-2DD1-4782-8879-1C0C50533202}">
  <a:tblStyle styleId="{5A2462C7-2DD1-4782-8879-1C0C5053320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4753" autoAdjust="0"/>
  </p:normalViewPr>
  <p:slideViewPr>
    <p:cSldViewPr snapToGrid="0">
      <p:cViewPr varScale="1">
        <p:scale>
          <a:sx n="90" d="100"/>
          <a:sy n="90" d="100"/>
        </p:scale>
        <p:origin x="1544"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Hello, my name is Seungpil Lee. Today, I will present our course project titled "Enhancing 3D Spatial Reasoning in Vision-Language Models through Multi-View Augmentation." This is joint work with Daeyeon Kim.</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pPr marL="0" lvl="0" indent="0" algn="l" rtl="0">
              <a:spcBef>
                <a:spcPts val="0"/>
              </a:spcBef>
              <a:spcAft>
                <a:spcPts val="0"/>
              </a:spcAft>
              <a:buNone/>
            </a:pPr>
            <a:r>
              <a:rPr lang="en-US" dirty="0"/>
              <a:t>The core challenge in 3D spatial reasoning stems from the inherent ambiguity when inferring three-dimensional orientation from a single two-dimensional image. Current Vision-Language Models achieve below 50% accuracy on orientation-related tasks, which is essentially random guessing.
Our research objective is to address this limitation through multi-view data augmentation. By training models on images rendered from multiple viewpoints, we aim to enable more robust and viewpoint-aware spatial reasoning capabilities.
For this project, Seungpil Lee was responsible for data augmentation pipeline development, model training, evaluation, and this presentation, while </a:t>
            </a:r>
            <a:r>
              <a:rPr lang="en-US" dirty="0" err="1"/>
              <a:t>Daeyeon</a:t>
            </a:r>
            <a:r>
              <a:rPr lang="en-US" dirty="0"/>
              <a:t> Kim contributed to data augmentation and slide preparation.</a:t>
            </a:r>
          </a:p>
        </p:txBody>
      </p:sp>
    </p:spTree>
    <p:extLst>
      <p:ext uri="{BB962C8B-B14F-4D97-AF65-F5344CB8AC3E}">
        <p14:creationId xmlns:p14="http://schemas.microsoft.com/office/powerpoint/2010/main" val="3433451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03b38abe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03b38abe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 Vision-Language Model, or VLM, is a multimodal AI architecture that processes both visual and textual information. The model consists of an image encoder for extracting visual features, a multimodal fusion layer, and a text decoder for generating responses.
Among various VLM applications, we focus specifically on Visual Question Answering, where the model must understand spatial relationships within images to answer questions accurately. This task is particularly challenging because it requires genuine 3D understanding from 2D observations.</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85f6fe727a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85f6fe727a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The recently proposed SpatialReasoner attempts to solve this problem through an explicit 3D perception process. Instead of models simply looking at images and reasoning implicitly, it first computes 3D coordinates and vectors, then provides answers based on these calculations. For example, when asked "from the man's perspective, is the water bottle on the left or right," while conventional models make vague guesses, SpatialReasoner calculates the 3D positions of the person and bottle, then provides accurate answers through vector operations.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85f6fe727a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85f6fe727a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dirty="0"/>
              <a:t>Understanding 3D space from 2D images remains challenging for Vision-Language models. As shown in 3DSRBench, models struggle with questions about height, location, orientation, and multi-object relationships. Especially on rotation benchmarks, like SpinBench, VLM has shown significant weakness, showing accuracy under 50%.</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05b79fd1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05b79fd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3DSRBench results reveal that orientation tasks exhibit the lowest performance among all spatial reasoning categories. Looking at the table, while height and location tasks achieve 55 to 68 percent accuracy, orientation tasks drop to around 39 percent.
We specifically target three orientation subtasks. First, orientation_in_front_of determines whether one object is positioned in front of another. Second, orientation_on_the_left assesses lateral positioning from an object's perspective. Third, orientation_viewpoint identifies which side of an object faces the camera. These tasks require understanding of intrinsic object orientations, which is fundamentally ambiguous from single-view observations.</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b05b79fd19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b05b79fd19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Our proposed method consists of three main components.
First, we leverage MVGenMaster, a state-of-the-art multi-view diffusion model, to generate rotated novel views from the original SpatialReasoner dataset. This model preserves geometric consistency by using depth-aligned 3D priors.
Second, we modify the corresponding spatial annotations including direction vectors, 3D bounding boxes, and chain-of-thought reasoning to match each synthesized viewpoint.
Third, we train the model on this augmented dataset with the goal of improving performance specifically on orientation tasks in the 3DSRBench benchmark. The key insight is that exposure to multiple viewpoints during training should help the model develop better internal representations of 3D spatial structure.</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b03b38abef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b03b38abe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altLang="ko-KR" dirty="0"/>
              <a:t>The pipeline is as follows.</a:t>
            </a:r>
            <a:br>
              <a:rPr lang="en-US" altLang="ko-KR" dirty="0"/>
            </a:br>
            <a:r>
              <a:rPr lang="en-US" altLang="ko-KR" dirty="0"/>
              <a:t>We first </a:t>
            </a:r>
            <a:r>
              <a:rPr lang="en-US" altLang="ko-KR" b="1" dirty="0"/>
              <a:t>augment novel-view images using </a:t>
            </a:r>
            <a:r>
              <a:rPr lang="en-US" altLang="ko-KR" b="1" dirty="0" err="1"/>
              <a:t>MVGenMaster</a:t>
            </a:r>
            <a:r>
              <a:rPr lang="en-US" altLang="ko-KR" dirty="0"/>
              <a:t>.</a:t>
            </a:r>
            <a:br>
              <a:rPr lang="en-US" altLang="ko-KR" dirty="0"/>
            </a:br>
            <a:r>
              <a:rPr lang="en-US" altLang="ko-KR" dirty="0"/>
              <a:t>Then, we perform </a:t>
            </a:r>
            <a:r>
              <a:rPr lang="en-US" altLang="ko-KR" b="1" dirty="0"/>
              <a:t>label augmentation in two ways</a:t>
            </a:r>
            <a:r>
              <a:rPr lang="en-US" altLang="ko-KR" dirty="0"/>
              <a:t>:</a:t>
            </a:r>
          </a:p>
          <a:p>
            <a:pPr>
              <a:buFont typeface="+mj-lt"/>
              <a:buAutoNum type="arabicPeriod"/>
            </a:pPr>
            <a:r>
              <a:rPr lang="en-US" altLang="ko-KR" dirty="0"/>
              <a:t>A </a:t>
            </a:r>
            <a:r>
              <a:rPr lang="en-US" altLang="ko-KR" b="1" dirty="0"/>
              <a:t>geometry-based method</a:t>
            </a:r>
            <a:r>
              <a:rPr lang="en-US" altLang="ko-KR" dirty="0"/>
              <a:t>, where we consider only horizontal rotation and apply a </a:t>
            </a:r>
            <a:r>
              <a:rPr lang="en-US" altLang="ko-KR" b="1" dirty="0"/>
              <a:t>rotation matrix around the Z-axis</a:t>
            </a:r>
            <a:r>
              <a:rPr lang="en-US" altLang="ko-KR" dirty="0"/>
              <a:t>.</a:t>
            </a:r>
          </a:p>
          <a:p>
            <a:pPr>
              <a:buFont typeface="+mj-lt"/>
              <a:buAutoNum type="arabicPeriod"/>
            </a:pPr>
            <a:r>
              <a:rPr lang="en-US" altLang="ko-KR" dirty="0"/>
              <a:t>A </a:t>
            </a:r>
            <a:r>
              <a:rPr lang="en-US" altLang="ko-KR" b="1" dirty="0"/>
              <a:t>model-based method</a:t>
            </a:r>
            <a:r>
              <a:rPr lang="en-US" altLang="ko-KR" dirty="0"/>
              <a:t>, where we use </a:t>
            </a:r>
            <a:r>
              <a:rPr lang="en-US" altLang="ko-KR" b="1" dirty="0"/>
              <a:t>Qwen2.5-VL</a:t>
            </a:r>
            <a:r>
              <a:rPr lang="en-US" altLang="ko-KR" dirty="0"/>
              <a:t> to generate a reasoning format and </a:t>
            </a:r>
            <a:r>
              <a:rPr lang="en-US" altLang="ko-KR" b="1" dirty="0"/>
              <a:t>derive labels inferred from the ground truth</a:t>
            </a:r>
            <a:r>
              <a:rPr lang="en-US" altLang="ko-KR" dirty="0"/>
              <a:t>, which are then used as supervision.</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03b38abef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03b38abe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SpatialReasoner dataset follows a structured format with nine fields. Each sample contains a question about spatial relationships, corresponding answer choices, and chain-of-thought reasoning that explains the solution process.
Crucially for our augmentation approach, three fields contain geometric information that must be transformed when generating novel views. The bounding_box field stores 3D coordinates for each object. The direction field contains front and left direction vectors defining object orientations. The answer_cot field includes numerical computations referencing these spatial quantities. When we rotate the viewpoint, all three fields must be consistently updated to maintain annotation accuracy.</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pPr marL="158750" indent="0">
              <a:buNone/>
            </a:pPr>
            <a:r>
              <a:rPr lang="en-US" altLang="ko-KR" dirty="0"/>
              <a:t>Next, we introduce the pipeline of </a:t>
            </a:r>
            <a:r>
              <a:rPr lang="en-US" altLang="ko-KR" b="1" dirty="0" err="1"/>
              <a:t>MVGenMaster</a:t>
            </a:r>
            <a:r>
              <a:rPr lang="en-US" altLang="ko-KR" dirty="0"/>
              <a:t>, the diffusion model used for image augmentation.</a:t>
            </a:r>
            <a:br>
              <a:rPr lang="en-US" altLang="ko-KR" dirty="0"/>
            </a:br>
            <a:r>
              <a:rPr lang="en-US" altLang="ko-KR" dirty="0"/>
              <a:t>After obtaining a high-quality depth map from </a:t>
            </a:r>
            <a:r>
              <a:rPr lang="en-US" altLang="ko-KR" b="1" dirty="0"/>
              <a:t>monocular depth estimation</a:t>
            </a:r>
            <a:r>
              <a:rPr lang="en-US" altLang="ko-KR" dirty="0"/>
              <a:t>, we align it to a </a:t>
            </a:r>
            <a:r>
              <a:rPr lang="en-US" altLang="ko-KR" b="1" dirty="0"/>
              <a:t>metric scale using MVS or COLMAP</a:t>
            </a:r>
            <a:r>
              <a:rPr lang="en-US" altLang="ko-KR" dirty="0"/>
              <a:t>.</a:t>
            </a:r>
            <a:br>
              <a:rPr lang="en-US" altLang="ko-KR" dirty="0"/>
            </a:br>
            <a:r>
              <a:rPr lang="en-US" altLang="ko-KR" dirty="0"/>
              <a:t>This means that the image generation process </a:t>
            </a:r>
            <a:r>
              <a:rPr lang="en-US" altLang="ko-KR" b="1" dirty="0"/>
              <a:t>preserves real-world spatial information</a:t>
            </a:r>
            <a:r>
              <a:rPr lang="en-US" altLang="ko-KR" dirty="0"/>
              <a:t>.</a:t>
            </a:r>
          </a:p>
          <a:p>
            <a:pPr marL="158750" indent="0">
              <a:buNone/>
            </a:pPr>
            <a:r>
              <a:rPr lang="en-US" altLang="ko-KR" dirty="0"/>
              <a:t>Reference views are kept clean and used as conditioning signals, while diffusion is applied only to the target views to preserve geometric consistency, thereby generating novel views.</a:t>
            </a:r>
          </a:p>
          <a:p>
            <a:pPr marL="158750" indent="0">
              <a:buNone/>
            </a:pPr>
            <a:endParaRPr lang="en-US" altLang="ko-KR"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ko-KR" dirty="0"/>
              <a:t>This is done to prevent noise from being added to the reference views.</a:t>
            </a:r>
          </a:p>
          <a:p>
            <a:pPr marL="158750" indent="0">
              <a:buNone/>
            </a:pPr>
            <a:endParaRPr lang="ko-KR" altLang="en-US" dirty="0"/>
          </a:p>
        </p:txBody>
      </p:sp>
    </p:spTree>
    <p:extLst>
      <p:ext uri="{BB962C8B-B14F-4D97-AF65-F5344CB8AC3E}">
        <p14:creationId xmlns:p14="http://schemas.microsoft.com/office/powerpoint/2010/main" val="634466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85f6fe727a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85f6fe727a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The model’s inference prompt consists of a </a:t>
            </a:r>
            <a:r>
              <a:rPr lang="en-US" altLang="ko-KR" b="1" dirty="0"/>
              <a:t>single input image</a:t>
            </a:r>
            <a:r>
              <a:rPr lang="en-US" altLang="ko-KR" dirty="0"/>
              <a:t>, the </a:t>
            </a:r>
            <a:r>
              <a:rPr lang="en-US" altLang="ko-KR" b="1" dirty="0"/>
              <a:t>number of views to generate</a:t>
            </a:r>
            <a:r>
              <a:rPr lang="en-US" altLang="ko-KR" dirty="0"/>
              <a:t>, the </a:t>
            </a:r>
            <a:r>
              <a:rPr lang="en-US" altLang="ko-KR" b="1" dirty="0"/>
              <a:t>camera trajectory</a:t>
            </a:r>
            <a:r>
              <a:rPr lang="en-US" altLang="ko-KR" dirty="0"/>
              <a:t>, and the </a:t>
            </a:r>
            <a:r>
              <a:rPr lang="en-US" altLang="ko-KR" b="1" dirty="0"/>
              <a:t>rotation angle along that trajectory</a:t>
            </a:r>
            <a:r>
              <a:rPr lang="en-US" altLang="ko-KR" dirty="0"/>
              <a:t>.</a:t>
            </a:r>
            <a:br>
              <a:rPr lang="en-US" altLang="ko-KR" dirty="0"/>
            </a:br>
            <a:r>
              <a:rPr lang="en-US" altLang="ko-KR" dirty="0"/>
              <a:t>Using this setup, the novel views are generated.</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pPr marL="158750" indent="0">
              <a:buNone/>
            </a:pPr>
            <a:r>
              <a:rPr lang="en-US" altLang="ko-KR" dirty="0"/>
              <a:t>This is the first dataset we mentioned earlier.</a:t>
            </a:r>
            <a:br>
              <a:rPr lang="en-US" altLang="ko-KR" dirty="0"/>
            </a:br>
            <a:r>
              <a:rPr lang="en-US" altLang="ko-KR" dirty="0"/>
              <a:t>We augmented the labels by applying a </a:t>
            </a:r>
            <a:r>
              <a:rPr lang="en-US" altLang="ko-KR" b="1" dirty="0"/>
              <a:t>rotation matrix</a:t>
            </a:r>
            <a:r>
              <a:rPr lang="en-US" altLang="ko-KR" dirty="0"/>
              <a:t>, corresponding to the augmentation angle, to the </a:t>
            </a:r>
            <a:r>
              <a:rPr lang="en-US" altLang="ko-KR" b="1" dirty="0"/>
              <a:t>direction vectors and 3D bounding box vectors</a:t>
            </a:r>
            <a:r>
              <a:rPr lang="en-US" altLang="ko-KR" dirty="0"/>
              <a:t>.</a:t>
            </a:r>
            <a:endParaRPr lang="ko-KR" altLang="en-US" dirty="0"/>
          </a:p>
        </p:txBody>
      </p:sp>
    </p:spTree>
    <p:extLst>
      <p:ext uri="{BB962C8B-B14F-4D97-AF65-F5344CB8AC3E}">
        <p14:creationId xmlns:p14="http://schemas.microsoft.com/office/powerpoint/2010/main" val="845306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b03b38abe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b03b38abe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ko-KR" sz="1100" b="0" i="0" dirty="0">
                <a:effectLst/>
                <a:latin typeface="+mn-lt"/>
              </a:rPr>
              <a:t>The system message </a:t>
            </a:r>
            <a:r>
              <a:rPr lang="en-US" altLang="ko-KR" sz="1100" b="1" i="0" dirty="0">
                <a:effectLst/>
                <a:latin typeface="+mn-lt"/>
              </a:rPr>
              <a:t>formats the model’s reasoning process </a:t>
            </a:r>
            <a:r>
              <a:rPr lang="en-US" altLang="ko-KR" sz="1100" b="0" i="0" dirty="0">
                <a:effectLst/>
                <a:latin typeface="+mn-lt"/>
              </a:rPr>
              <a:t>so that the data can be augmented into the desired form.</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ko-KR" sz="1100" dirty="0">
                <a:effectLst/>
                <a:latin typeface="+mn-lt"/>
              </a:rPr>
              <a:t>The </a:t>
            </a:r>
            <a:r>
              <a:rPr lang="en-US" altLang="ko-KR" sz="1100" b="1" dirty="0">
                <a:effectLst/>
                <a:latin typeface="+mn-lt"/>
              </a:rPr>
              <a:t>&lt;think&gt; tag </a:t>
            </a:r>
            <a:r>
              <a:rPr lang="en-US" altLang="ko-KR" sz="1100" dirty="0">
                <a:effectLst/>
                <a:latin typeface="+mn-lt"/>
              </a:rPr>
              <a:t>becomes the reasoning process, that is, the chain-of-thought (</a:t>
            </a:r>
            <a:r>
              <a:rPr lang="en-US" altLang="ko-KR" sz="1100" dirty="0" err="1">
                <a:effectLst/>
                <a:latin typeface="+mn-lt"/>
              </a:rPr>
              <a:t>CoT</a:t>
            </a:r>
            <a:r>
              <a:rPr lang="en-US" altLang="ko-KR" sz="1100" dirty="0">
                <a:effectLst/>
                <a:latin typeface="+mn-lt"/>
              </a:rPr>
              <a:t>) label, and the </a:t>
            </a:r>
            <a:r>
              <a:rPr lang="en-US" altLang="ko-KR" sz="1100" b="1" dirty="0">
                <a:effectLst/>
                <a:latin typeface="+mn-lt"/>
              </a:rPr>
              <a:t>&lt;answer&gt; tag</a:t>
            </a:r>
            <a:r>
              <a:rPr lang="en-US" altLang="ko-KR" sz="1100" dirty="0">
                <a:effectLst/>
                <a:latin typeface="+mn-lt"/>
              </a:rPr>
              <a:t> represents spatial information such as direction and bounding boxes</a:t>
            </a:r>
            <a:endParaRPr lang="en-US" altLang="ko-KR" sz="1100" b="0" i="0" dirty="0">
              <a:effectLst/>
              <a:latin typeface="+mn-lt"/>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820689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ko-KR" sz="1100" b="0" i="0" dirty="0">
                <a:effectLst/>
                <a:latin typeface="+mj-lt"/>
              </a:rPr>
              <a:t>We feed the original dataset together with the camera poses of our augmented novel views, and then use them as </a:t>
            </a:r>
            <a:r>
              <a:rPr lang="en-US" altLang="ko-KR" sz="1100" b="1" i="0" dirty="0">
                <a:effectLst/>
                <a:latin typeface="+mj-lt"/>
              </a:rPr>
              <a:t>inputs to run inference with the model</a:t>
            </a:r>
            <a:r>
              <a:rPr lang="en-US" altLang="ko-KR" sz="1100" b="0" i="0" dirty="0">
                <a:effectLst/>
                <a:latin typeface="+mj-lt"/>
              </a:rPr>
              <a:t>.</a:t>
            </a:r>
            <a:endParaRPr lang="ko-KR" altLang="en-US" sz="1100" dirty="0">
              <a:latin typeface="+mj-lt"/>
            </a:endParaRPr>
          </a:p>
          <a:p>
            <a:endParaRPr lang="ko-KR" altLang="en-US" dirty="0"/>
          </a:p>
        </p:txBody>
      </p:sp>
    </p:spTree>
    <p:extLst>
      <p:ext uri="{BB962C8B-B14F-4D97-AF65-F5344CB8AC3E}">
        <p14:creationId xmlns:p14="http://schemas.microsoft.com/office/powerpoint/2010/main" val="25027545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ko-KR" sz="1100" b="0" i="0" dirty="0">
                <a:effectLst/>
                <a:latin typeface="+mn-lt"/>
              </a:rPr>
              <a:t>The model then </a:t>
            </a:r>
            <a:r>
              <a:rPr lang="en-US" altLang="ko-KR" sz="1100" b="1" i="0" dirty="0">
                <a:effectLst/>
                <a:latin typeface="+mn-lt"/>
              </a:rPr>
              <a:t>outputs the next reasoning process </a:t>
            </a:r>
            <a:r>
              <a:rPr lang="en-US" altLang="ko-KR" sz="1100" b="0" i="0" dirty="0">
                <a:effectLst/>
                <a:latin typeface="+mn-lt"/>
              </a:rPr>
              <a:t>as a chain-of-thought (</a:t>
            </a:r>
            <a:r>
              <a:rPr lang="en-US" altLang="ko-KR" sz="1100" b="0" i="0" dirty="0" err="1">
                <a:effectLst/>
                <a:latin typeface="+mn-lt"/>
              </a:rPr>
              <a:t>CoT</a:t>
            </a:r>
            <a:r>
              <a:rPr lang="en-US" altLang="ko-KR" sz="1100" b="0" i="0" dirty="0">
                <a:effectLst/>
                <a:latin typeface="+mn-lt"/>
              </a:rPr>
              <a:t>), together with the augmented labels, including the updated </a:t>
            </a:r>
            <a:r>
              <a:rPr lang="en-US" altLang="ko-KR" sz="1100" b="1" i="0" dirty="0">
                <a:effectLst/>
                <a:latin typeface="+mn-lt"/>
              </a:rPr>
              <a:t>&lt;</a:t>
            </a:r>
            <a:r>
              <a:rPr lang="en-US" altLang="ko-KR" sz="1100" b="1" i="0" dirty="0" err="1">
                <a:effectLst/>
                <a:latin typeface="+mn-lt"/>
              </a:rPr>
              <a:t>bounding_box</a:t>
            </a:r>
            <a:r>
              <a:rPr lang="en-US" altLang="ko-KR" sz="1100" b="1" i="0" dirty="0">
                <a:effectLst/>
                <a:latin typeface="+mn-lt"/>
              </a:rPr>
              <a:t>&gt; </a:t>
            </a:r>
            <a:r>
              <a:rPr lang="en-US" altLang="ko-KR" sz="1100" b="0" i="0" dirty="0">
                <a:effectLst/>
                <a:latin typeface="+mn-lt"/>
              </a:rPr>
              <a:t>and </a:t>
            </a:r>
            <a:r>
              <a:rPr lang="en-US" altLang="ko-KR" sz="1100" b="1" i="0" dirty="0">
                <a:effectLst/>
                <a:latin typeface="+mn-lt"/>
              </a:rPr>
              <a:t>&lt;direction&gt;</a:t>
            </a:r>
            <a:endParaRPr lang="ko-KR" altLang="en-US" sz="1100" b="1" dirty="0">
              <a:latin typeface="+mn-lt"/>
            </a:endParaRPr>
          </a:p>
          <a:p>
            <a:endParaRPr lang="ko-KR" altLang="en-US" dirty="0"/>
          </a:p>
        </p:txBody>
      </p:sp>
    </p:spTree>
    <p:extLst>
      <p:ext uri="{BB962C8B-B14F-4D97-AF65-F5344CB8AC3E}">
        <p14:creationId xmlns:p14="http://schemas.microsoft.com/office/powerpoint/2010/main" val="97470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b03b38abef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03b38abef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Here, we train the model using two augmented datasets.</a:t>
            </a:r>
            <a:br>
              <a:rPr lang="en-US" altLang="ko-KR" dirty="0"/>
            </a:br>
            <a:r>
              <a:rPr lang="en-US" altLang="ko-KR" b="1" dirty="0"/>
              <a:t>HF-Aug</a:t>
            </a:r>
            <a:r>
              <a:rPr lang="en-US" altLang="ko-KR" dirty="0"/>
              <a:t> applies rotation matrices to direction vectors and 3D bounding boxes, generating 2,400 samples without chain-of-thought labels.</a:t>
            </a:r>
            <a:br>
              <a:rPr lang="en-US" altLang="ko-KR" dirty="0"/>
            </a:br>
            <a:r>
              <a:rPr lang="en-US" altLang="ko-KR" b="1" dirty="0"/>
              <a:t>MVGen-96k</a:t>
            </a:r>
            <a:r>
              <a:rPr lang="en-US" altLang="ko-KR" dirty="0"/>
              <a:t> uses Qwen2.5-VL to generate reasoning-based labels, including directions, bounding boxes, and chain-of-thought, resulting in 96,000 samples across four viewpoints.</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b03b38abef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b03b38abe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evaluation results show mixed outcomes across our target tasks.
For HF-Aug, we observe modest improvements on orientation_in_front_of, increasing from 49.7 to 53.1 percent, and orientation_viewpoint, from 16.0 to 18.3 percent. However, orientation_on_the_left decreases from 52.6 to 44.6 percent.
MVGen-96k demonstrates substantial gains on multi-object tasks, particularly multi_object_facing improving from 33.1 to 48.6 percent, and multi_object_same_direction from 32.0 to 42.9 percent. However, it shows degraded performance on location-based tasks.
Overall, these results are insufficient to claim clear performance gains on our primary target tasks. The inconsistent improvements suggest that our augmentation strategy requires refinement to achieve reliable orientation reasoning enhancement.</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b03b38abef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b03b38abef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 identified four main factors that may explain the limited performance gains.
First, there is a resolution mismatch between training and evaluation. The model was trained on low-resolution images at 576 by 384 pixels but evaluated on high-resolution images at 1024 by 768 pixels, causing significant loss of fine-grained visual details.
Second, the data distribution is imbalanced. Augmented rotated images dominate the training set, leading to overfitting on rotated low-resolution views and poor generalization to original test images.
Third, for MVGen-96k specifically, there exists a viewpoint-label inconsistency. Although images are generated from different viewpoints, the ground-truth answers remain identical across all views, which may confuse the model during training.
Fourth, for HF-Aug, no chain-of-thought augmentation was applied, limiting the model's ability to learn the reasoning process.</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85f6fe727a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85f6fe727a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Our approach has several limitations that warrant discussion.
The dataset quality is highly dependent on MVGenMaster's generation quality. In some cases, objects disappear or become distorted in the generated images, introducing noise into the training data.
Additionally, even depth-guided novel view synthesis can contain geometric errors, particularly in regions with complex occlusions or transparent materials.
For future work, we plan to explore incorporating explicit spatial features extracted from depth estimation directly into the model architecture. We also aim to investigate more sophisticated multi-view augmentation strategies that can produce higher-quality, geometrically consistent training datasets.</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slideLayout" Target="../slideLayouts/slideLayout3.xml"/><Relationship Id="rId6" Type="http://schemas.openxmlformats.org/officeDocument/2006/relationships/notesSlide" Target="../notesSlides/notesSlide11.xml"/><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1492675"/>
            <a:ext cx="9087600" cy="7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ko" sz="2200" dirty="0"/>
              <a:t>Enhancing 3D Spatial Reasoning in Vision-Language Models </a:t>
            </a:r>
            <a:br>
              <a:rPr lang="en-US" altLang="ko" sz="2200" dirty="0"/>
            </a:br>
            <a:r>
              <a:rPr lang="ko" sz="2200" dirty="0"/>
              <a:t>through Multi-View Augmentation</a:t>
            </a:r>
            <a:endParaRPr sz="2200" dirty="0"/>
          </a:p>
        </p:txBody>
      </p:sp>
      <p:sp>
        <p:nvSpPr>
          <p:cNvPr id="55" name="Google Shape;55;p13"/>
          <p:cNvSpPr txBox="1">
            <a:spLocks noGrp="1"/>
          </p:cNvSpPr>
          <p:nvPr>
            <p:ph type="subTitle" idx="1"/>
          </p:nvPr>
        </p:nvSpPr>
        <p:spPr>
          <a:xfrm>
            <a:off x="5788500" y="3728975"/>
            <a:ext cx="3043800" cy="792600"/>
          </a:xfrm>
          <a:prstGeom prst="rect">
            <a:avLst/>
          </a:prstGeom>
        </p:spPr>
        <p:txBody>
          <a:bodyPr spcFirstLastPara="1" wrap="square" lIns="91425" tIns="91425" rIns="91425" bIns="91425" anchor="t" anchorCtr="0">
            <a:normAutofit/>
          </a:bodyPr>
          <a:lstStyle/>
          <a:p>
            <a:pPr marL="0" lvl="0" indent="0" algn="ctr" rtl="0">
              <a:lnSpc>
                <a:spcPct val="115000"/>
              </a:lnSpc>
              <a:spcBef>
                <a:spcPts val="0"/>
              </a:spcBef>
              <a:spcAft>
                <a:spcPts val="0"/>
              </a:spcAft>
              <a:buSzPts val="935"/>
              <a:buNone/>
            </a:pPr>
            <a:r>
              <a:rPr lang="ko" sz="1679" dirty="0">
                <a:solidFill>
                  <a:schemeClr val="dk1"/>
                </a:solidFill>
              </a:rPr>
              <a:t>Seung Pil Lee 20251050</a:t>
            </a:r>
            <a:endParaRPr sz="1679" dirty="0">
              <a:solidFill>
                <a:schemeClr val="dk1"/>
              </a:solidFill>
            </a:endParaRPr>
          </a:p>
          <a:p>
            <a:pPr marL="0" lvl="0" indent="0" algn="ctr" rtl="0">
              <a:lnSpc>
                <a:spcPct val="115000"/>
              </a:lnSpc>
              <a:spcBef>
                <a:spcPts val="0"/>
              </a:spcBef>
              <a:spcAft>
                <a:spcPts val="0"/>
              </a:spcAft>
              <a:buSzPts val="935"/>
              <a:buNone/>
            </a:pPr>
            <a:r>
              <a:rPr lang="ko" sz="1679" dirty="0">
                <a:solidFill>
                  <a:schemeClr val="dk1"/>
                </a:solidFill>
              </a:rPr>
              <a:t>Dae Yeon Kim 20251196</a:t>
            </a:r>
            <a:endParaRPr sz="1679" dirty="0">
              <a:solidFill>
                <a:schemeClr val="dk1"/>
              </a:solidFill>
            </a:endParaRPr>
          </a:p>
        </p:txBody>
      </p:sp>
      <p:sp>
        <p:nvSpPr>
          <p:cNvPr id="56" name="Google Shape;56;p13"/>
          <p:cNvSpPr txBox="1"/>
          <p:nvPr/>
        </p:nvSpPr>
        <p:spPr>
          <a:xfrm>
            <a:off x="1524000" y="2754375"/>
            <a:ext cx="5788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600">
                <a:solidFill>
                  <a:schemeClr val="dk1"/>
                </a:solidFill>
              </a:rPr>
              <a:t>A Course Project under </a:t>
            </a:r>
            <a:r>
              <a:rPr lang="ko" sz="1600" i="1">
                <a:solidFill>
                  <a:schemeClr val="dk1"/>
                </a:solidFill>
              </a:rPr>
              <a:t>Multiple View Geometry for Spatial AI</a:t>
            </a:r>
            <a:endParaRPr sz="1600">
              <a:solidFill>
                <a:schemeClr val="dk1"/>
              </a:solidFill>
            </a:endParaRPr>
          </a:p>
        </p:txBody>
      </p:sp>
      <p:sp>
        <p:nvSpPr>
          <p:cNvPr id="57" name="Google Shape;5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11229E74-3AD2-4A53-92E1-D2DAA5A223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ko" smtClean="0"/>
              <a:t>2</a:t>
            </a:fld>
            <a:endParaRPr lang="ko" altLang="en-US"/>
          </a:p>
        </p:txBody>
      </p:sp>
      <p:sp>
        <p:nvSpPr>
          <p:cNvPr id="4" name="Google Shape;62;p14">
            <a:extLst>
              <a:ext uri="{FF2B5EF4-FFF2-40B4-BE49-F238E27FC236}">
                <a16:creationId xmlns:a16="http://schemas.microsoft.com/office/drawing/2014/main" id="{5DEAD366-D47E-46E3-80B8-D046B563C038}"/>
              </a:ext>
            </a:extLst>
          </p:cNvPr>
          <p:cNvSpPr txBox="1">
            <a:spLocks/>
          </p:cNvSpPr>
          <p:nvPr/>
        </p:nvSpPr>
        <p:spPr>
          <a:xfrm>
            <a:off x="0" y="257175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altLang="ko" sz="2500" dirty="0"/>
              <a:t>Contribution</a:t>
            </a:r>
            <a:endParaRPr lang="en-US" sz="2500" dirty="0"/>
          </a:p>
        </p:txBody>
      </p:sp>
      <p:sp>
        <p:nvSpPr>
          <p:cNvPr id="6" name="TextBox 5">
            <a:extLst>
              <a:ext uri="{FF2B5EF4-FFF2-40B4-BE49-F238E27FC236}">
                <a16:creationId xmlns:a16="http://schemas.microsoft.com/office/drawing/2014/main" id="{5E206DE2-5FCE-4F09-A3D6-2E05766CCDF9}"/>
              </a:ext>
            </a:extLst>
          </p:cNvPr>
          <p:cNvSpPr txBox="1"/>
          <p:nvPr/>
        </p:nvSpPr>
        <p:spPr>
          <a:xfrm>
            <a:off x="233464" y="3270910"/>
            <a:ext cx="8520600" cy="523220"/>
          </a:xfrm>
          <a:prstGeom prst="rect">
            <a:avLst/>
          </a:prstGeom>
          <a:noFill/>
        </p:spPr>
        <p:txBody>
          <a:bodyPr wrap="square">
            <a:spAutoFit/>
          </a:bodyPr>
          <a:lstStyle/>
          <a:p>
            <a:r>
              <a:rPr lang="ko" altLang="ko-KR" sz="1400" dirty="0">
                <a:solidFill>
                  <a:schemeClr val="dk1"/>
                </a:solidFill>
              </a:rPr>
              <a:t>Seung Pil Lee </a:t>
            </a:r>
            <a:r>
              <a:rPr lang="en-US" altLang="ko" sz="1400" dirty="0">
                <a:solidFill>
                  <a:schemeClr val="dk1"/>
                </a:solidFill>
              </a:rPr>
              <a:t>: Ideation, </a:t>
            </a:r>
            <a:r>
              <a:rPr lang="en-US" altLang="ko-KR" dirty="0"/>
              <a:t>Data </a:t>
            </a:r>
            <a:r>
              <a:rPr lang="en-US" altLang="ko-KR" dirty="0">
                <a:solidFill>
                  <a:schemeClr val="tx1"/>
                </a:solidFill>
              </a:rPr>
              <a:t>augmentation</a:t>
            </a:r>
            <a:r>
              <a:rPr lang="en-US" altLang="ko-KR" dirty="0"/>
              <a:t>, Training, Evaluation, Slide Preparation</a:t>
            </a:r>
            <a:r>
              <a:rPr lang="en-US" altLang="ko-KR"/>
              <a:t>, Presentation</a:t>
            </a:r>
            <a:endParaRPr lang="en-US" altLang="ko" sz="1400" dirty="0">
              <a:solidFill>
                <a:schemeClr val="dk1"/>
              </a:solidFill>
            </a:endParaRPr>
          </a:p>
          <a:p>
            <a:r>
              <a:rPr lang="ko" altLang="ko-KR" sz="1400" dirty="0">
                <a:solidFill>
                  <a:schemeClr val="dk1"/>
                </a:solidFill>
              </a:rPr>
              <a:t>Dae Yeon Kim</a:t>
            </a:r>
            <a:r>
              <a:rPr lang="en-US" altLang="ko" sz="1400" dirty="0">
                <a:solidFill>
                  <a:schemeClr val="dk1"/>
                </a:solidFill>
              </a:rPr>
              <a:t> : </a:t>
            </a:r>
            <a:r>
              <a:rPr lang="en-US" altLang="ko-KR" dirty="0"/>
              <a:t>Data augmentation, Slide preparation</a:t>
            </a:r>
            <a:endParaRPr lang="ko-KR" altLang="en-US" dirty="0"/>
          </a:p>
        </p:txBody>
      </p:sp>
      <p:sp>
        <p:nvSpPr>
          <p:cNvPr id="8" name="Google Shape;62;p14">
            <a:extLst>
              <a:ext uri="{FF2B5EF4-FFF2-40B4-BE49-F238E27FC236}">
                <a16:creationId xmlns:a16="http://schemas.microsoft.com/office/drawing/2014/main" id="{BC8C2AF6-E931-4F76-A471-B567A1B6433E}"/>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pPr algn="l"/>
            <a:r>
              <a:rPr lang="en-US" altLang="ko-KR" sz="2400" dirty="0"/>
              <a:t>Research goal</a:t>
            </a:r>
            <a:endParaRPr lang="en-US" sz="2400" dirty="0"/>
          </a:p>
        </p:txBody>
      </p:sp>
      <p:sp>
        <p:nvSpPr>
          <p:cNvPr id="9" name="TextBox 8">
            <a:extLst>
              <a:ext uri="{FF2B5EF4-FFF2-40B4-BE49-F238E27FC236}">
                <a16:creationId xmlns:a16="http://schemas.microsoft.com/office/drawing/2014/main" id="{92D8CA51-9F37-4776-8D2D-5D8F6D12E758}"/>
              </a:ext>
            </a:extLst>
          </p:cNvPr>
          <p:cNvSpPr txBox="1"/>
          <p:nvPr/>
        </p:nvSpPr>
        <p:spPr>
          <a:xfrm>
            <a:off x="233464" y="772006"/>
            <a:ext cx="7655668" cy="1169551"/>
          </a:xfrm>
          <a:prstGeom prst="rect">
            <a:avLst/>
          </a:prstGeom>
          <a:noFill/>
        </p:spPr>
        <p:txBody>
          <a:bodyPr wrap="square">
            <a:spAutoFit/>
          </a:bodyPr>
          <a:lstStyle/>
          <a:p>
            <a:r>
              <a:rPr lang="en-US" altLang="ko-KR" dirty="0"/>
              <a:t>Due to the </a:t>
            </a:r>
            <a:r>
              <a:rPr lang="en-US" altLang="ko-KR" b="1" dirty="0"/>
              <a:t>inherent ambiguity of 3D orientation reasoning </a:t>
            </a:r>
            <a:r>
              <a:rPr lang="en-US" altLang="ko-KR" dirty="0"/>
              <a:t>from single 2D images, existing Vision-Language Models exhibit poor performance on orientation-related tasks.</a:t>
            </a:r>
          </a:p>
          <a:p>
            <a:endParaRPr lang="en-US" altLang="ko-KR" dirty="0"/>
          </a:p>
          <a:p>
            <a:r>
              <a:rPr lang="en-US" altLang="ko-KR" dirty="0"/>
              <a:t>The objective of this research is to mitigate this limitation by training models </a:t>
            </a:r>
            <a:r>
              <a:rPr lang="en-US" altLang="ko-KR" b="1" dirty="0"/>
              <a:t>on multi-view augmented data</a:t>
            </a:r>
            <a:r>
              <a:rPr lang="en-US" altLang="ko-KR" dirty="0"/>
              <a:t>, enabling more robust and viewpoint-aware 3D spatial reasoning.</a:t>
            </a:r>
            <a:endParaRPr lang="ko-KR" altLang="en-US" dirty="0"/>
          </a:p>
        </p:txBody>
      </p:sp>
    </p:spTree>
    <p:extLst>
      <p:ext uri="{BB962C8B-B14F-4D97-AF65-F5344CB8AC3E}">
        <p14:creationId xmlns:p14="http://schemas.microsoft.com/office/powerpoint/2010/main" val="1739841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dirty="0"/>
              <a:t>Vision-Language Model (VLM)</a:t>
            </a:r>
            <a:endParaRPr dirty="0"/>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3</a:t>
            </a:fld>
            <a:endParaRPr/>
          </a:p>
        </p:txBody>
      </p:sp>
      <p:sp>
        <p:nvSpPr>
          <p:cNvPr id="64" name="Google Shape;64;p14"/>
          <p:cNvSpPr txBox="1"/>
          <p:nvPr/>
        </p:nvSpPr>
        <p:spPr>
          <a:xfrm>
            <a:off x="728735" y="4101144"/>
            <a:ext cx="7696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600" dirty="0"/>
              <a:t>It is a </a:t>
            </a:r>
            <a:r>
              <a:rPr lang="ko" sz="1600" b="1" dirty="0"/>
              <a:t>multimodal AI model</a:t>
            </a:r>
            <a:r>
              <a:rPr lang="ko" sz="1600" dirty="0"/>
              <a:t> trained on both </a:t>
            </a:r>
            <a:r>
              <a:rPr lang="ko" sz="1600" b="1" dirty="0"/>
              <a:t>images and text,</a:t>
            </a:r>
            <a:r>
              <a:rPr lang="ko" sz="1600" dirty="0"/>
              <a:t> enabling computers to understand and reason about visual information as if it were language.</a:t>
            </a:r>
            <a:endParaRPr sz="1600" dirty="0"/>
          </a:p>
        </p:txBody>
      </p:sp>
      <p:pic>
        <p:nvPicPr>
          <p:cNvPr id="65" name="Google Shape;65;p14"/>
          <p:cNvPicPr preferRelativeResize="0"/>
          <p:nvPr/>
        </p:nvPicPr>
        <p:blipFill>
          <a:blip r:embed="rId3">
            <a:alphaModFix/>
          </a:blip>
          <a:stretch>
            <a:fillRect/>
          </a:stretch>
        </p:blipFill>
        <p:spPr>
          <a:xfrm>
            <a:off x="564488" y="2610663"/>
            <a:ext cx="713825" cy="713825"/>
          </a:xfrm>
          <a:prstGeom prst="rect">
            <a:avLst/>
          </a:prstGeom>
          <a:noFill/>
          <a:ln>
            <a:noFill/>
          </a:ln>
        </p:spPr>
      </p:pic>
      <p:pic>
        <p:nvPicPr>
          <p:cNvPr id="66" name="Google Shape;66;p14"/>
          <p:cNvPicPr preferRelativeResize="0"/>
          <p:nvPr/>
        </p:nvPicPr>
        <p:blipFill>
          <a:blip r:embed="rId4">
            <a:alphaModFix/>
          </a:blip>
          <a:stretch>
            <a:fillRect/>
          </a:stretch>
        </p:blipFill>
        <p:spPr>
          <a:xfrm>
            <a:off x="624588" y="1301723"/>
            <a:ext cx="653725" cy="653725"/>
          </a:xfrm>
          <a:prstGeom prst="rect">
            <a:avLst/>
          </a:prstGeom>
          <a:noFill/>
          <a:ln>
            <a:noFill/>
          </a:ln>
        </p:spPr>
      </p:pic>
      <p:sp>
        <p:nvSpPr>
          <p:cNvPr id="67" name="Google Shape;67;p14"/>
          <p:cNvSpPr txBox="1"/>
          <p:nvPr/>
        </p:nvSpPr>
        <p:spPr>
          <a:xfrm>
            <a:off x="519918" y="1955448"/>
            <a:ext cx="1240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800" b="1">
                <a:solidFill>
                  <a:schemeClr val="dk1"/>
                </a:solidFill>
              </a:rPr>
              <a:t>Image</a:t>
            </a:r>
            <a:endParaRPr sz="1800" b="1">
              <a:solidFill>
                <a:schemeClr val="dk1"/>
              </a:solidFill>
            </a:endParaRPr>
          </a:p>
        </p:txBody>
      </p:sp>
      <p:sp>
        <p:nvSpPr>
          <p:cNvPr id="68" name="Google Shape;68;p14"/>
          <p:cNvSpPr txBox="1"/>
          <p:nvPr/>
        </p:nvSpPr>
        <p:spPr>
          <a:xfrm>
            <a:off x="564489" y="3390888"/>
            <a:ext cx="1240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800" b="1">
                <a:solidFill>
                  <a:schemeClr val="dk1"/>
                </a:solidFill>
              </a:rPr>
              <a:t>Text</a:t>
            </a:r>
            <a:endParaRPr sz="1800" b="1">
              <a:solidFill>
                <a:schemeClr val="dk1"/>
              </a:solidFill>
            </a:endParaRPr>
          </a:p>
        </p:txBody>
      </p:sp>
      <p:sp>
        <p:nvSpPr>
          <p:cNvPr id="69" name="Google Shape;69;p14"/>
          <p:cNvSpPr/>
          <p:nvPr/>
        </p:nvSpPr>
        <p:spPr>
          <a:xfrm>
            <a:off x="1555938" y="1523838"/>
            <a:ext cx="785100" cy="239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14"/>
          <p:cNvSpPr/>
          <p:nvPr/>
        </p:nvSpPr>
        <p:spPr>
          <a:xfrm>
            <a:off x="1540982" y="2867275"/>
            <a:ext cx="785100" cy="239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4"/>
          <p:cNvSpPr/>
          <p:nvPr/>
        </p:nvSpPr>
        <p:spPr>
          <a:xfrm>
            <a:off x="2684788" y="1290900"/>
            <a:ext cx="1240200" cy="77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a:t>Image </a:t>
            </a:r>
            <a:endParaRPr/>
          </a:p>
          <a:p>
            <a:pPr marL="0" lvl="0" indent="0" algn="ctr" rtl="0">
              <a:spcBef>
                <a:spcPts val="0"/>
              </a:spcBef>
              <a:spcAft>
                <a:spcPts val="0"/>
              </a:spcAft>
              <a:buNone/>
            </a:pPr>
            <a:r>
              <a:rPr lang="ko"/>
              <a:t>encoder</a:t>
            </a:r>
            <a:endParaRPr/>
          </a:p>
        </p:txBody>
      </p:sp>
      <p:sp>
        <p:nvSpPr>
          <p:cNvPr id="72" name="Google Shape;72;p14"/>
          <p:cNvSpPr/>
          <p:nvPr/>
        </p:nvSpPr>
        <p:spPr>
          <a:xfrm>
            <a:off x="2684788" y="2554375"/>
            <a:ext cx="1240200" cy="77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a:t>Text </a:t>
            </a:r>
            <a:endParaRPr/>
          </a:p>
          <a:p>
            <a:pPr marL="0" lvl="0" indent="0" algn="ctr" rtl="0">
              <a:spcBef>
                <a:spcPts val="0"/>
              </a:spcBef>
              <a:spcAft>
                <a:spcPts val="0"/>
              </a:spcAft>
              <a:buNone/>
            </a:pPr>
            <a:r>
              <a:rPr lang="ko"/>
              <a:t>decoder</a:t>
            </a:r>
            <a:endParaRPr/>
          </a:p>
        </p:txBody>
      </p:sp>
      <p:sp>
        <p:nvSpPr>
          <p:cNvPr id="73" name="Google Shape;73;p14"/>
          <p:cNvSpPr/>
          <p:nvPr/>
        </p:nvSpPr>
        <p:spPr>
          <a:xfrm>
            <a:off x="4078238" y="2172963"/>
            <a:ext cx="785100" cy="239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 name="Google Shape;74;p14"/>
          <p:cNvSpPr/>
          <p:nvPr/>
        </p:nvSpPr>
        <p:spPr>
          <a:xfrm>
            <a:off x="5080013" y="1907625"/>
            <a:ext cx="1240200" cy="77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a:t>Multimodal </a:t>
            </a:r>
            <a:endParaRPr/>
          </a:p>
          <a:p>
            <a:pPr marL="0" lvl="0" indent="0" algn="ctr" rtl="0">
              <a:spcBef>
                <a:spcPts val="0"/>
              </a:spcBef>
              <a:spcAft>
                <a:spcPts val="0"/>
              </a:spcAft>
              <a:buNone/>
            </a:pPr>
            <a:r>
              <a:rPr lang="ko"/>
              <a:t>fusion layer</a:t>
            </a:r>
            <a:endParaRPr/>
          </a:p>
        </p:txBody>
      </p:sp>
      <p:sp>
        <p:nvSpPr>
          <p:cNvPr id="75" name="Google Shape;75;p14"/>
          <p:cNvSpPr/>
          <p:nvPr/>
        </p:nvSpPr>
        <p:spPr>
          <a:xfrm>
            <a:off x="7374788" y="1907625"/>
            <a:ext cx="1240200" cy="77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a:t>Text output</a:t>
            </a:r>
            <a:endParaRPr/>
          </a:p>
        </p:txBody>
      </p:sp>
      <p:sp>
        <p:nvSpPr>
          <p:cNvPr id="76" name="Google Shape;76;p14"/>
          <p:cNvSpPr/>
          <p:nvPr/>
        </p:nvSpPr>
        <p:spPr>
          <a:xfrm>
            <a:off x="6488413" y="2172963"/>
            <a:ext cx="785100" cy="239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 name="Google Shape;77;p14"/>
          <p:cNvSpPr txBox="1"/>
          <p:nvPr/>
        </p:nvSpPr>
        <p:spPr>
          <a:xfrm>
            <a:off x="2518670" y="1996119"/>
            <a:ext cx="1617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100">
                <a:solidFill>
                  <a:schemeClr val="dk1"/>
                </a:solidFill>
              </a:rPr>
              <a:t>extract visual features</a:t>
            </a:r>
            <a:endParaRPr sz="1100">
              <a:solidFill>
                <a:schemeClr val="dk1"/>
              </a:solidFill>
            </a:endParaRPr>
          </a:p>
        </p:txBody>
      </p:sp>
      <p:sp>
        <p:nvSpPr>
          <p:cNvPr id="78" name="Google Shape;78;p14"/>
          <p:cNvSpPr txBox="1"/>
          <p:nvPr/>
        </p:nvSpPr>
        <p:spPr>
          <a:xfrm>
            <a:off x="5334404" y="2617917"/>
            <a:ext cx="925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100">
                <a:solidFill>
                  <a:schemeClr val="dk1"/>
                </a:solidFill>
              </a:rPr>
              <a:t>reasoning</a:t>
            </a:r>
            <a:endParaRPr sz="1100">
              <a:solidFill>
                <a:schemeClr val="dk1"/>
              </a:solidFill>
            </a:endParaRPr>
          </a:p>
        </p:txBody>
      </p:sp>
      <p:sp>
        <p:nvSpPr>
          <p:cNvPr id="79" name="Google Shape;79;p14"/>
          <p:cNvSpPr txBox="1"/>
          <p:nvPr/>
        </p:nvSpPr>
        <p:spPr>
          <a:xfrm>
            <a:off x="7374785" y="2640625"/>
            <a:ext cx="21015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100" dirty="0">
                <a:solidFill>
                  <a:schemeClr val="dk1"/>
                </a:solidFill>
              </a:rPr>
              <a:t>Visual Q&amp;A</a:t>
            </a:r>
            <a:endParaRPr sz="1100" dirty="0">
              <a:solidFill>
                <a:schemeClr val="dk1"/>
              </a:solidFill>
            </a:endParaRPr>
          </a:p>
          <a:p>
            <a:pPr marL="0" lvl="0" indent="0" algn="l" rtl="0">
              <a:spcBef>
                <a:spcPts val="0"/>
              </a:spcBef>
              <a:spcAft>
                <a:spcPts val="0"/>
              </a:spcAft>
              <a:buNone/>
            </a:pPr>
            <a:r>
              <a:rPr lang="ko" sz="1100" dirty="0">
                <a:solidFill>
                  <a:schemeClr val="dk1"/>
                </a:solidFill>
              </a:rPr>
              <a:t>Image Captioning</a:t>
            </a:r>
            <a:endParaRPr sz="1100" dirty="0">
              <a:solidFill>
                <a:schemeClr val="dk1"/>
              </a:solidFill>
            </a:endParaRPr>
          </a:p>
          <a:p>
            <a:pPr marL="0" lvl="0" indent="0" algn="l" rtl="0">
              <a:spcBef>
                <a:spcPts val="0"/>
              </a:spcBef>
              <a:spcAft>
                <a:spcPts val="0"/>
              </a:spcAft>
              <a:buNone/>
            </a:pPr>
            <a:r>
              <a:rPr lang="ko" sz="1100" dirty="0">
                <a:solidFill>
                  <a:schemeClr val="dk1"/>
                </a:solidFill>
              </a:rPr>
              <a:t>Multi-modal Reasoning</a:t>
            </a:r>
            <a:endParaRPr sz="1100"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dirty="0"/>
              <a:t>Related Work (SpatialReasoner)</a:t>
            </a:r>
            <a:endParaRPr dirty="0"/>
          </a:p>
        </p:txBody>
      </p:sp>
      <p:sp>
        <p:nvSpPr>
          <p:cNvPr id="85" name="Google Shape;85;p15"/>
          <p:cNvSpPr txBox="1"/>
          <p:nvPr/>
        </p:nvSpPr>
        <p:spPr>
          <a:xfrm>
            <a:off x="0" y="4853663"/>
            <a:ext cx="9339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000">
                <a:solidFill>
                  <a:schemeClr val="dk2"/>
                </a:solidFill>
                <a:highlight>
                  <a:srgbClr val="FFFFFF"/>
                </a:highlight>
              </a:rPr>
              <a:t>[1] Ma, Wufei, et al. "Spatialreasoner: Towards explicit and generalizable 3d spatial reasoning." </a:t>
            </a:r>
            <a:r>
              <a:rPr lang="ko" sz="1000" i="1">
                <a:solidFill>
                  <a:schemeClr val="dk2"/>
                </a:solidFill>
                <a:highlight>
                  <a:srgbClr val="FFFFFF"/>
                </a:highlight>
              </a:rPr>
              <a:t>arXiv preprint arXiv:2504.20024</a:t>
            </a:r>
            <a:r>
              <a:rPr lang="ko" sz="1000">
                <a:solidFill>
                  <a:schemeClr val="dk2"/>
                </a:solidFill>
                <a:highlight>
                  <a:srgbClr val="FFFFFF"/>
                </a:highlight>
              </a:rPr>
              <a:t> (2025).</a:t>
            </a:r>
            <a:endParaRPr>
              <a:solidFill>
                <a:schemeClr val="dk2"/>
              </a:solidFill>
            </a:endParaRPr>
          </a:p>
        </p:txBody>
      </p:sp>
      <p:pic>
        <p:nvPicPr>
          <p:cNvPr id="86" name="Google Shape;86;p15"/>
          <p:cNvPicPr preferRelativeResize="0"/>
          <p:nvPr/>
        </p:nvPicPr>
        <p:blipFill rotWithShape="1">
          <a:blip r:embed="rId3">
            <a:alphaModFix/>
          </a:blip>
          <a:srcRect/>
          <a:stretch/>
        </p:blipFill>
        <p:spPr>
          <a:xfrm>
            <a:off x="1511151" y="750775"/>
            <a:ext cx="6317592" cy="3347525"/>
          </a:xfrm>
          <a:prstGeom prst="rect">
            <a:avLst/>
          </a:prstGeom>
          <a:noFill/>
          <a:ln>
            <a:noFill/>
          </a:ln>
        </p:spPr>
      </p:pic>
      <p:sp>
        <p:nvSpPr>
          <p:cNvPr id="87" name="Google Shape;87;p15"/>
          <p:cNvSpPr txBox="1"/>
          <p:nvPr/>
        </p:nvSpPr>
        <p:spPr>
          <a:xfrm>
            <a:off x="132900" y="4098310"/>
            <a:ext cx="9074100" cy="6771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ko" sz="1600"/>
              <a:t>To enhance perception ability, SpatialReasoner augmented data to train model use </a:t>
            </a:r>
            <a:endParaRPr sz="1600"/>
          </a:p>
          <a:p>
            <a:pPr marL="457200" lvl="0" indent="0" algn="l" rtl="0">
              <a:spcBef>
                <a:spcPts val="0"/>
              </a:spcBef>
              <a:spcAft>
                <a:spcPts val="0"/>
              </a:spcAft>
              <a:buNone/>
            </a:pPr>
            <a:r>
              <a:rPr lang="ko" sz="1600" b="1"/>
              <a:t>‘Explicit 3d Perception’ </a:t>
            </a:r>
            <a:r>
              <a:rPr lang="ko" sz="1600"/>
              <a:t>process</a:t>
            </a:r>
            <a:endParaRPr sz="1600" b="1"/>
          </a:p>
        </p:txBody>
      </p:sp>
      <p:sp>
        <p:nvSpPr>
          <p:cNvPr id="88" name="Google Shape;8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6"/>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dirty="0"/>
              <a:t>Problem Statement</a:t>
            </a:r>
            <a:endParaRPr dirty="0"/>
          </a:p>
        </p:txBody>
      </p:sp>
      <p:sp>
        <p:nvSpPr>
          <p:cNvPr id="94" name="Google Shape;94;p16"/>
          <p:cNvSpPr txBox="1"/>
          <p:nvPr/>
        </p:nvSpPr>
        <p:spPr>
          <a:xfrm>
            <a:off x="0" y="4656650"/>
            <a:ext cx="8472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000" dirty="0">
                <a:solidFill>
                  <a:schemeClr val="tx2">
                    <a:lumMod val="50000"/>
                  </a:schemeClr>
                </a:solidFill>
                <a:highlight>
                  <a:srgbClr val="FFFFFF"/>
                </a:highlight>
              </a:rPr>
              <a:t>[2] Ma, W., Chen, H., Zhang, G., Chou, Y. C., de Melo, C. M., &amp; Yuille, A. (2024). 3dsrbench: A comprehensive 3d spatial reasoning benchmark. ICCV 2025.</a:t>
            </a:r>
            <a:endParaRPr dirty="0">
              <a:solidFill>
                <a:schemeClr val="tx2">
                  <a:lumMod val="50000"/>
                </a:schemeClr>
              </a:solidFill>
            </a:endParaRPr>
          </a:p>
        </p:txBody>
      </p:sp>
      <p:sp>
        <p:nvSpPr>
          <p:cNvPr id="95" name="Google Shape;95;p16"/>
          <p:cNvSpPr txBox="1"/>
          <p:nvPr/>
        </p:nvSpPr>
        <p:spPr>
          <a:xfrm>
            <a:off x="132900" y="3979548"/>
            <a:ext cx="9074100" cy="677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ko" sz="1600" b="1"/>
              <a:t>3D understanding with 2D image </a:t>
            </a:r>
            <a:r>
              <a:rPr lang="ko" sz="1600"/>
              <a:t>is challenge in Vision-Language Models (VLM)</a:t>
            </a:r>
            <a:endParaRPr sz="1600"/>
          </a:p>
          <a:p>
            <a:pPr marL="457200" lvl="0" indent="-330200" algn="l" rtl="0">
              <a:spcBef>
                <a:spcPts val="0"/>
              </a:spcBef>
              <a:spcAft>
                <a:spcPts val="0"/>
              </a:spcAft>
              <a:buSzPts val="1600"/>
              <a:buChar char="-"/>
            </a:pPr>
            <a:r>
              <a:rPr lang="ko" sz="1600"/>
              <a:t>Especially 3D perception is keep being a problem (orientation, distance etc)</a:t>
            </a:r>
            <a:endParaRPr sz="1600"/>
          </a:p>
        </p:txBody>
      </p:sp>
      <p:pic>
        <p:nvPicPr>
          <p:cNvPr id="96" name="Google Shape;96;p16" title="3dsr.png"/>
          <p:cNvPicPr preferRelativeResize="0"/>
          <p:nvPr/>
        </p:nvPicPr>
        <p:blipFill rotWithShape="1">
          <a:blip r:embed="rId3">
            <a:alphaModFix/>
          </a:blip>
          <a:srcRect t="13457"/>
          <a:stretch/>
        </p:blipFill>
        <p:spPr>
          <a:xfrm>
            <a:off x="1040913" y="883964"/>
            <a:ext cx="7062175" cy="2739475"/>
          </a:xfrm>
          <a:prstGeom prst="rect">
            <a:avLst/>
          </a:prstGeom>
          <a:noFill/>
          <a:ln>
            <a:noFill/>
          </a:ln>
        </p:spPr>
      </p:pic>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dirty="0"/>
              <a:t>Benchmark results table (3DSR)</a:t>
            </a:r>
            <a:endParaRPr dirty="0"/>
          </a:p>
        </p:txBody>
      </p:sp>
      <p:sp>
        <p:nvSpPr>
          <p:cNvPr id="103" name="Google Shape;10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6</a:t>
            </a:fld>
            <a:endParaRPr/>
          </a:p>
        </p:txBody>
      </p:sp>
      <p:pic>
        <p:nvPicPr>
          <p:cNvPr id="104" name="Google Shape;104;p17"/>
          <p:cNvPicPr preferRelativeResize="0"/>
          <p:nvPr/>
        </p:nvPicPr>
        <p:blipFill>
          <a:blip r:embed="rId3">
            <a:alphaModFix/>
          </a:blip>
          <a:stretch>
            <a:fillRect/>
          </a:stretch>
        </p:blipFill>
        <p:spPr>
          <a:xfrm>
            <a:off x="231075" y="867541"/>
            <a:ext cx="3616300" cy="3641650"/>
          </a:xfrm>
          <a:prstGeom prst="rect">
            <a:avLst/>
          </a:prstGeom>
          <a:noFill/>
          <a:ln>
            <a:noFill/>
          </a:ln>
        </p:spPr>
      </p:pic>
      <p:sp>
        <p:nvSpPr>
          <p:cNvPr id="105" name="Google Shape;105;p17"/>
          <p:cNvSpPr txBox="1"/>
          <p:nvPr/>
        </p:nvSpPr>
        <p:spPr>
          <a:xfrm>
            <a:off x="0" y="4656650"/>
            <a:ext cx="8472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000" dirty="0">
                <a:solidFill>
                  <a:schemeClr val="bg2">
                    <a:lumMod val="60000"/>
                    <a:lumOff val="40000"/>
                  </a:schemeClr>
                </a:solidFill>
                <a:highlight>
                  <a:srgbClr val="FFFFFF"/>
                </a:highlight>
              </a:rPr>
              <a:t>[2] Ma, W., Chen, H., Zhang, G., Chou, Y. C., de Melo, C. M., &amp; Yuille, A. (2024). 3dsrbench: A comprehensive 3d spatial reasoning benchmark. ICCV 2025.</a:t>
            </a:r>
            <a:endParaRPr dirty="0">
              <a:solidFill>
                <a:schemeClr val="bg2">
                  <a:lumMod val="60000"/>
                  <a:lumOff val="40000"/>
                </a:schemeClr>
              </a:solidFill>
            </a:endParaRPr>
          </a:p>
        </p:txBody>
      </p:sp>
      <p:sp>
        <p:nvSpPr>
          <p:cNvPr id="106" name="Google Shape;106;p17"/>
          <p:cNvSpPr/>
          <p:nvPr/>
        </p:nvSpPr>
        <p:spPr>
          <a:xfrm>
            <a:off x="2980475" y="1216416"/>
            <a:ext cx="420900" cy="3282600"/>
          </a:xfrm>
          <a:prstGeom prst="rect">
            <a:avLst/>
          </a:prstGeom>
          <a:no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 name="Google Shape;107;p17"/>
          <p:cNvSpPr txBox="1"/>
          <p:nvPr/>
        </p:nvSpPr>
        <p:spPr>
          <a:xfrm>
            <a:off x="3922650" y="1415213"/>
            <a:ext cx="50985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a:t>Among multiple 3D spatial reasoning tasks, models show particularly poor performance on </a:t>
            </a:r>
            <a:r>
              <a:rPr lang="ko" sz="1500" b="1"/>
              <a:t>orientation-related questions.</a:t>
            </a:r>
            <a:endParaRPr sz="1500" b="1"/>
          </a:p>
        </p:txBody>
      </p:sp>
      <p:sp>
        <p:nvSpPr>
          <p:cNvPr id="108" name="Google Shape;108;p17"/>
          <p:cNvSpPr txBox="1"/>
          <p:nvPr/>
        </p:nvSpPr>
        <p:spPr>
          <a:xfrm>
            <a:off x="3897864" y="2393306"/>
            <a:ext cx="50985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ko">
                <a:solidFill>
                  <a:schemeClr val="dk1"/>
                </a:solidFill>
              </a:rPr>
              <a:t>Therefore, we focus on improving performance on the following orientation tasks in 3DSRBench:</a:t>
            </a:r>
            <a:endParaRPr>
              <a:solidFill>
                <a:schemeClr val="dk1"/>
              </a:solidFill>
            </a:endParaRPr>
          </a:p>
        </p:txBody>
      </p:sp>
      <p:sp>
        <p:nvSpPr>
          <p:cNvPr id="109" name="Google Shape;109;p17"/>
          <p:cNvSpPr txBox="1"/>
          <p:nvPr/>
        </p:nvSpPr>
        <p:spPr>
          <a:xfrm>
            <a:off x="3897875" y="3119950"/>
            <a:ext cx="5548200" cy="1131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ko" sz="1200" b="1">
                <a:solidFill>
                  <a:schemeClr val="dk1"/>
                </a:solidFill>
              </a:rPr>
              <a:t>orientation_in_front_of: </a:t>
            </a:r>
            <a:r>
              <a:rPr lang="ko" sz="1200">
                <a:solidFill>
                  <a:schemeClr val="dk1"/>
                </a:solidFill>
              </a:rPr>
              <a:t>Whether an object is in front of another object.</a:t>
            </a:r>
            <a:endParaRPr sz="1200">
              <a:solidFill>
                <a:schemeClr val="dk1"/>
              </a:solidFill>
            </a:endParaRPr>
          </a:p>
          <a:p>
            <a:pPr marL="0" lvl="0" indent="0" algn="l" rtl="0">
              <a:lnSpc>
                <a:spcPct val="100000"/>
              </a:lnSpc>
              <a:spcBef>
                <a:spcPts val="600"/>
              </a:spcBef>
              <a:spcAft>
                <a:spcPts val="0"/>
              </a:spcAft>
              <a:buNone/>
            </a:pPr>
            <a:r>
              <a:rPr lang="ko" sz="1200" b="1">
                <a:solidFill>
                  <a:schemeClr val="dk1"/>
                </a:solidFill>
              </a:rPr>
              <a:t>orientation_on_the_left</a:t>
            </a:r>
            <a:r>
              <a:rPr lang="ko" sz="1200">
                <a:solidFill>
                  <a:schemeClr val="dk1"/>
                </a:solidFill>
              </a:rPr>
              <a:t>: Whether an object is to the left of another object.</a:t>
            </a:r>
            <a:endParaRPr sz="1200">
              <a:solidFill>
                <a:schemeClr val="dk1"/>
              </a:solidFill>
            </a:endParaRPr>
          </a:p>
          <a:p>
            <a:pPr marL="0" lvl="0" indent="0" algn="l" rtl="0">
              <a:lnSpc>
                <a:spcPct val="100000"/>
              </a:lnSpc>
              <a:spcBef>
                <a:spcPts val="600"/>
              </a:spcBef>
              <a:spcAft>
                <a:spcPts val="0"/>
              </a:spcAft>
              <a:buNone/>
            </a:pPr>
            <a:r>
              <a:rPr lang="ko" sz="1200" b="1">
                <a:solidFill>
                  <a:schemeClr val="dk1"/>
                </a:solidFill>
              </a:rPr>
              <a:t>orientation_viewpoint:</a:t>
            </a:r>
            <a:r>
              <a:rPr lang="ko" sz="1200">
                <a:solidFill>
                  <a:schemeClr val="dk1"/>
                </a:solidFill>
              </a:rPr>
              <a:t> From which side the camera is viewing the object.</a:t>
            </a:r>
            <a:endParaRPr sz="1200">
              <a:solidFill>
                <a:schemeClr val="dk1"/>
              </a:solidFill>
            </a:endParaRPr>
          </a:p>
          <a:p>
            <a:pPr marL="0" lvl="0" indent="0" algn="l" rtl="0">
              <a:spcBef>
                <a:spcPts val="600"/>
              </a:spcBef>
              <a:spcAft>
                <a:spcPts val="0"/>
              </a:spcAft>
              <a:buNone/>
            </a:pPr>
            <a:endParaRPr sz="105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0" y="-619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ko" dirty="0"/>
              <a:t>Proposed Method - novel view image augmentation</a:t>
            </a:r>
            <a:endParaRPr dirty="0"/>
          </a:p>
          <a:p>
            <a:pPr marL="0" lvl="0" indent="0" algn="l" rtl="0">
              <a:spcBef>
                <a:spcPts val="0"/>
              </a:spcBef>
              <a:spcAft>
                <a:spcPts val="0"/>
              </a:spcAft>
              <a:buNone/>
            </a:pPr>
            <a:endParaRPr dirty="0"/>
          </a:p>
        </p:txBody>
      </p:sp>
      <p:sp>
        <p:nvSpPr>
          <p:cNvPr id="115" name="Google Shape;115;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7</a:t>
            </a:fld>
            <a:endParaRPr/>
          </a:p>
        </p:txBody>
      </p:sp>
      <p:sp>
        <p:nvSpPr>
          <p:cNvPr id="116" name="Google Shape;116;p18"/>
          <p:cNvSpPr txBox="1"/>
          <p:nvPr/>
        </p:nvSpPr>
        <p:spPr>
          <a:xfrm>
            <a:off x="332625" y="921925"/>
            <a:ext cx="7522500" cy="2662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ko">
                <a:solidFill>
                  <a:schemeClr val="dk1"/>
                </a:solidFill>
              </a:rPr>
              <a:t>1. We </a:t>
            </a:r>
            <a:r>
              <a:rPr lang="ko" b="1">
                <a:solidFill>
                  <a:schemeClr val="dk1"/>
                </a:solidFill>
              </a:rPr>
              <a:t>generate rotated novel views</a:t>
            </a:r>
            <a:r>
              <a:rPr lang="ko">
                <a:solidFill>
                  <a:schemeClr val="dk1"/>
                </a:solidFill>
              </a:rPr>
              <a:t> for the Spatial Reasoner, a state-of-the-art model for 3D spatial reasoning, using MVGenMaster on its original image dataset.</a:t>
            </a:r>
            <a:endParaRPr>
              <a:solidFill>
                <a:schemeClr val="dk1"/>
              </a:solidFill>
            </a:endParaRPr>
          </a:p>
          <a:p>
            <a:pPr marL="0" lvl="0" indent="0" algn="l" rtl="0">
              <a:lnSpc>
                <a:spcPct val="150000"/>
              </a:lnSpc>
              <a:spcBef>
                <a:spcPts val="0"/>
              </a:spcBef>
              <a:spcAft>
                <a:spcPts val="0"/>
              </a:spcAft>
              <a:buNone/>
            </a:pPr>
            <a:endParaRPr>
              <a:solidFill>
                <a:schemeClr val="dk1"/>
              </a:solidFill>
            </a:endParaRPr>
          </a:p>
          <a:p>
            <a:pPr marL="0" lvl="0" indent="0" algn="l" rtl="0">
              <a:lnSpc>
                <a:spcPct val="150000"/>
              </a:lnSpc>
              <a:spcBef>
                <a:spcPts val="0"/>
              </a:spcBef>
              <a:spcAft>
                <a:spcPts val="0"/>
              </a:spcAft>
              <a:buNone/>
            </a:pPr>
            <a:r>
              <a:rPr lang="ko">
                <a:solidFill>
                  <a:schemeClr val="dk1"/>
                </a:solidFill>
              </a:rPr>
              <a:t>2. We modify the </a:t>
            </a:r>
            <a:r>
              <a:rPr lang="ko" b="1">
                <a:solidFill>
                  <a:schemeClr val="dk1"/>
                </a:solidFill>
              </a:rPr>
              <a:t>direction vectors, bounding boxes, and chain-of-thought annotations</a:t>
            </a:r>
            <a:r>
              <a:rPr lang="ko">
                <a:solidFill>
                  <a:schemeClr val="dk1"/>
                </a:solidFill>
              </a:rPr>
              <a:t> that describe object relationships in the images.</a:t>
            </a:r>
            <a:endParaRPr>
              <a:solidFill>
                <a:schemeClr val="dk1"/>
              </a:solidFill>
            </a:endParaRPr>
          </a:p>
          <a:p>
            <a:pPr marL="0" lvl="0" indent="0" algn="l" rtl="0">
              <a:lnSpc>
                <a:spcPct val="150000"/>
              </a:lnSpc>
              <a:spcBef>
                <a:spcPts val="0"/>
              </a:spcBef>
              <a:spcAft>
                <a:spcPts val="0"/>
              </a:spcAft>
              <a:buNone/>
            </a:pPr>
            <a:endParaRPr>
              <a:solidFill>
                <a:schemeClr val="dk1"/>
              </a:solidFill>
            </a:endParaRPr>
          </a:p>
          <a:p>
            <a:pPr marL="0" lvl="0" indent="0" algn="l" rtl="0">
              <a:lnSpc>
                <a:spcPct val="150000"/>
              </a:lnSpc>
              <a:spcBef>
                <a:spcPts val="0"/>
              </a:spcBef>
              <a:spcAft>
                <a:spcPts val="0"/>
              </a:spcAft>
              <a:buClr>
                <a:schemeClr val="dk1"/>
              </a:buClr>
              <a:buSzPts val="1100"/>
              <a:buFont typeface="Arial"/>
              <a:buNone/>
            </a:pPr>
            <a:r>
              <a:rPr lang="ko">
                <a:solidFill>
                  <a:schemeClr val="dk1"/>
                </a:solidFill>
              </a:rPr>
              <a:t>3. We aim to train on this augmented dataset to </a:t>
            </a:r>
            <a:r>
              <a:rPr lang="ko" b="1">
                <a:solidFill>
                  <a:schemeClr val="dk1"/>
                </a:solidFill>
              </a:rPr>
              <a:t>improve performance on the orientation tasks</a:t>
            </a:r>
            <a:r>
              <a:rPr lang="ko">
                <a:solidFill>
                  <a:schemeClr val="dk1"/>
                </a:solidFill>
              </a:rPr>
              <a:t> in the 3DSRBench benchmark.</a:t>
            </a:r>
            <a:endParaRPr>
              <a:solidFill>
                <a:schemeClr val="dk1"/>
              </a:solidFill>
            </a:endParaRPr>
          </a:p>
        </p:txBody>
      </p:sp>
      <p:pic>
        <p:nvPicPr>
          <p:cNvPr id="117" name="Google Shape;117;p18"/>
          <p:cNvPicPr preferRelativeResize="0"/>
          <p:nvPr/>
        </p:nvPicPr>
        <p:blipFill>
          <a:blip r:embed="rId3">
            <a:alphaModFix/>
          </a:blip>
          <a:stretch>
            <a:fillRect/>
          </a:stretch>
        </p:blipFill>
        <p:spPr>
          <a:xfrm>
            <a:off x="332625" y="3697350"/>
            <a:ext cx="7874475" cy="904600"/>
          </a:xfrm>
          <a:prstGeom prst="rect">
            <a:avLst/>
          </a:prstGeom>
          <a:noFill/>
          <a:ln>
            <a:noFill/>
          </a:ln>
        </p:spPr>
      </p:pic>
      <p:sp>
        <p:nvSpPr>
          <p:cNvPr id="118" name="Google Shape;118;p18"/>
          <p:cNvSpPr txBox="1"/>
          <p:nvPr/>
        </p:nvSpPr>
        <p:spPr>
          <a:xfrm>
            <a:off x="0" y="4825700"/>
            <a:ext cx="9339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000" dirty="0">
                <a:solidFill>
                  <a:schemeClr val="bg2">
                    <a:lumMod val="60000"/>
                    <a:lumOff val="40000"/>
                  </a:schemeClr>
                </a:solidFill>
                <a:highlight>
                  <a:srgbClr val="FFFFFF"/>
                </a:highlight>
              </a:rPr>
              <a:t>[3] Cao, Chenjie, et al. "MVGenMaster: Scaling Multi-View Generation from Any Image via 3D Priors Enhanced Diffusion Model." (CVPR)2025.</a:t>
            </a:r>
            <a:endParaRPr sz="1000" dirty="0">
              <a:solidFill>
                <a:schemeClr val="bg2">
                  <a:lumMod val="60000"/>
                  <a:lumOff val="40000"/>
                </a:schemeClr>
              </a:solidFill>
              <a:highlight>
                <a:srgbClr val="FFFFFF"/>
              </a:highlight>
            </a:endParaRPr>
          </a:p>
          <a:p>
            <a:pPr marL="0" lvl="0" indent="0" algn="l" rtl="0">
              <a:spcBef>
                <a:spcPts val="0"/>
              </a:spcBef>
              <a:spcAft>
                <a:spcPts val="0"/>
              </a:spcAft>
              <a:buNone/>
            </a:pPr>
            <a:endParaRPr sz="1000" dirty="0">
              <a:solidFill>
                <a:schemeClr val="dk2"/>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a:spLocks noGrp="1"/>
          </p:cNvSpPr>
          <p:nvPr>
            <p:ph type="title"/>
          </p:nvPr>
        </p:nvSpPr>
        <p:spPr>
          <a:xfrm>
            <a:off x="0" y="6892"/>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dirty="0"/>
              <a:t>Pipeline</a:t>
            </a:r>
            <a:endParaRPr dirty="0"/>
          </a:p>
        </p:txBody>
      </p:sp>
      <p:sp>
        <p:nvSpPr>
          <p:cNvPr id="131" name="Google Shape;13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8</a:t>
            </a:fld>
            <a:endParaRPr/>
          </a:p>
        </p:txBody>
      </p:sp>
      <p:sp>
        <p:nvSpPr>
          <p:cNvPr id="132" name="Google Shape;132;p20"/>
          <p:cNvSpPr/>
          <p:nvPr/>
        </p:nvSpPr>
        <p:spPr>
          <a:xfrm>
            <a:off x="301785" y="2160600"/>
            <a:ext cx="1587300" cy="822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ko" sz="1200">
                <a:solidFill>
                  <a:schemeClr val="dk1"/>
                </a:solidFill>
              </a:rPr>
              <a:t>Spatial Reasoner original dataset</a:t>
            </a:r>
            <a:endParaRPr>
              <a:solidFill>
                <a:schemeClr val="dk1"/>
              </a:solidFill>
            </a:endParaRPr>
          </a:p>
        </p:txBody>
      </p:sp>
      <p:sp>
        <p:nvSpPr>
          <p:cNvPr id="133" name="Google Shape;133;p20"/>
          <p:cNvSpPr/>
          <p:nvPr/>
        </p:nvSpPr>
        <p:spPr>
          <a:xfrm>
            <a:off x="2537207" y="2157223"/>
            <a:ext cx="1587300" cy="822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ko" sz="1200">
                <a:solidFill>
                  <a:schemeClr val="dk1"/>
                </a:solidFill>
              </a:rPr>
              <a:t>Generate rotated novel views</a:t>
            </a:r>
            <a:endParaRPr sz="1200">
              <a:solidFill>
                <a:schemeClr val="dk1"/>
              </a:solidFill>
            </a:endParaRPr>
          </a:p>
        </p:txBody>
      </p:sp>
      <p:pic>
        <p:nvPicPr>
          <p:cNvPr id="134" name="Google Shape;134;p20"/>
          <p:cNvPicPr preferRelativeResize="0"/>
          <p:nvPr/>
        </p:nvPicPr>
        <p:blipFill>
          <a:blip r:embed="rId3">
            <a:alphaModFix/>
          </a:blip>
          <a:stretch>
            <a:fillRect/>
          </a:stretch>
        </p:blipFill>
        <p:spPr>
          <a:xfrm>
            <a:off x="4296944" y="2070211"/>
            <a:ext cx="597775" cy="996325"/>
          </a:xfrm>
          <a:prstGeom prst="rect">
            <a:avLst/>
          </a:prstGeom>
          <a:noFill/>
          <a:ln>
            <a:noFill/>
          </a:ln>
        </p:spPr>
      </p:pic>
      <p:pic>
        <p:nvPicPr>
          <p:cNvPr id="135" name="Google Shape;135;p20"/>
          <p:cNvPicPr preferRelativeResize="0"/>
          <p:nvPr/>
        </p:nvPicPr>
        <p:blipFill>
          <a:blip r:embed="rId3">
            <a:alphaModFix/>
          </a:blip>
          <a:stretch>
            <a:fillRect/>
          </a:stretch>
        </p:blipFill>
        <p:spPr>
          <a:xfrm>
            <a:off x="5222920" y="1887223"/>
            <a:ext cx="622075" cy="1036797"/>
          </a:xfrm>
          <a:prstGeom prst="rect">
            <a:avLst/>
          </a:prstGeom>
          <a:noFill/>
          <a:ln>
            <a:noFill/>
          </a:ln>
        </p:spPr>
      </p:pic>
      <p:pic>
        <p:nvPicPr>
          <p:cNvPr id="136" name="Google Shape;136;p20"/>
          <p:cNvPicPr preferRelativeResize="0"/>
          <p:nvPr/>
        </p:nvPicPr>
        <p:blipFill>
          <a:blip r:embed="rId3">
            <a:alphaModFix/>
          </a:blip>
          <a:stretch>
            <a:fillRect/>
          </a:stretch>
        </p:blipFill>
        <p:spPr>
          <a:xfrm>
            <a:off x="5375320" y="2039623"/>
            <a:ext cx="622075" cy="1036797"/>
          </a:xfrm>
          <a:prstGeom prst="rect">
            <a:avLst/>
          </a:prstGeom>
          <a:noFill/>
          <a:ln>
            <a:noFill/>
          </a:ln>
        </p:spPr>
      </p:pic>
      <p:pic>
        <p:nvPicPr>
          <p:cNvPr id="137" name="Google Shape;137;p20"/>
          <p:cNvPicPr preferRelativeResize="0"/>
          <p:nvPr/>
        </p:nvPicPr>
        <p:blipFill>
          <a:blip r:embed="rId3">
            <a:alphaModFix/>
          </a:blip>
          <a:stretch>
            <a:fillRect/>
          </a:stretch>
        </p:blipFill>
        <p:spPr>
          <a:xfrm>
            <a:off x="5527720" y="2192023"/>
            <a:ext cx="622075" cy="1036797"/>
          </a:xfrm>
          <a:prstGeom prst="rect">
            <a:avLst/>
          </a:prstGeom>
          <a:noFill/>
          <a:ln>
            <a:noFill/>
          </a:ln>
        </p:spPr>
      </p:pic>
      <p:pic>
        <p:nvPicPr>
          <p:cNvPr id="138" name="Google Shape;138;p20"/>
          <p:cNvPicPr preferRelativeResize="0"/>
          <p:nvPr/>
        </p:nvPicPr>
        <p:blipFill>
          <a:blip r:embed="rId3">
            <a:alphaModFix/>
          </a:blip>
          <a:stretch>
            <a:fillRect/>
          </a:stretch>
        </p:blipFill>
        <p:spPr>
          <a:xfrm>
            <a:off x="5680120" y="2344423"/>
            <a:ext cx="622075" cy="1036797"/>
          </a:xfrm>
          <a:prstGeom prst="rect">
            <a:avLst/>
          </a:prstGeom>
          <a:noFill/>
          <a:ln>
            <a:noFill/>
          </a:ln>
        </p:spPr>
      </p:pic>
      <p:sp>
        <p:nvSpPr>
          <p:cNvPr id="139" name="Google Shape;139;p20"/>
          <p:cNvSpPr/>
          <p:nvPr/>
        </p:nvSpPr>
        <p:spPr>
          <a:xfrm>
            <a:off x="7214112" y="2126478"/>
            <a:ext cx="1587300" cy="822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dirty="0">
                <a:solidFill>
                  <a:schemeClr val="dk1"/>
                </a:solidFill>
              </a:rPr>
              <a:t>Spatial Reasoner </a:t>
            </a:r>
            <a:endParaRPr sz="1200" dirty="0">
              <a:solidFill>
                <a:schemeClr val="dk1"/>
              </a:solidFill>
            </a:endParaRPr>
          </a:p>
          <a:p>
            <a:pPr marL="0" lvl="0" indent="0" algn="ctr" rtl="0">
              <a:spcBef>
                <a:spcPts val="0"/>
              </a:spcBef>
              <a:spcAft>
                <a:spcPts val="0"/>
              </a:spcAft>
              <a:buNone/>
            </a:pPr>
            <a:r>
              <a:rPr lang="ko" sz="1200" dirty="0">
                <a:solidFill>
                  <a:schemeClr val="dk1"/>
                </a:solidFill>
              </a:rPr>
              <a:t>training</a:t>
            </a:r>
            <a:endParaRPr sz="1200" dirty="0">
              <a:solidFill>
                <a:schemeClr val="dk1"/>
              </a:solidFill>
            </a:endParaRPr>
          </a:p>
        </p:txBody>
      </p:sp>
      <p:sp>
        <p:nvSpPr>
          <p:cNvPr id="140" name="Google Shape;140;p20"/>
          <p:cNvSpPr/>
          <p:nvPr/>
        </p:nvSpPr>
        <p:spPr>
          <a:xfrm>
            <a:off x="2539231" y="3544490"/>
            <a:ext cx="1587300" cy="822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ko" sz="1200" dirty="0">
                <a:solidFill>
                  <a:schemeClr val="dk1"/>
                </a:solidFill>
              </a:rPr>
              <a:t>spatial information editing</a:t>
            </a:r>
            <a:endParaRPr sz="1200" dirty="0">
              <a:solidFill>
                <a:schemeClr val="dk1"/>
              </a:solidFill>
            </a:endParaRPr>
          </a:p>
        </p:txBody>
      </p:sp>
      <p:sp>
        <p:nvSpPr>
          <p:cNvPr id="141" name="Google Shape;141;p20"/>
          <p:cNvSpPr/>
          <p:nvPr/>
        </p:nvSpPr>
        <p:spPr>
          <a:xfrm>
            <a:off x="2019577" y="2435711"/>
            <a:ext cx="372900" cy="239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 name="Google Shape;142;p20"/>
          <p:cNvSpPr/>
          <p:nvPr/>
        </p:nvSpPr>
        <p:spPr>
          <a:xfrm>
            <a:off x="6600286" y="2393420"/>
            <a:ext cx="372900" cy="239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 name="Google Shape;144;p20"/>
          <p:cNvSpPr txBox="1"/>
          <p:nvPr/>
        </p:nvSpPr>
        <p:spPr>
          <a:xfrm>
            <a:off x="4375517" y="3270940"/>
            <a:ext cx="13608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200" dirty="0">
                <a:solidFill>
                  <a:schemeClr val="dk1"/>
                </a:solidFill>
                <a:latin typeface="Consolas"/>
                <a:ea typeface="Consolas"/>
                <a:cs typeface="Consolas"/>
                <a:sym typeface="Consolas"/>
              </a:rPr>
              <a:t>{</a:t>
            </a:r>
            <a:endParaRPr sz="1200" dirty="0">
              <a:solidFill>
                <a:schemeClr val="dk1"/>
              </a:solidFill>
              <a:latin typeface="Consolas"/>
              <a:ea typeface="Consolas"/>
              <a:cs typeface="Consolas"/>
              <a:sym typeface="Consolas"/>
            </a:endParaRPr>
          </a:p>
          <a:p>
            <a:pPr marL="0" lvl="0" indent="0" algn="l" rtl="0">
              <a:spcBef>
                <a:spcPts val="0"/>
              </a:spcBef>
              <a:spcAft>
                <a:spcPts val="0"/>
              </a:spcAft>
              <a:buNone/>
            </a:pPr>
            <a:r>
              <a:rPr lang="ko" sz="1200" dirty="0">
                <a:solidFill>
                  <a:schemeClr val="dk1"/>
                </a:solidFill>
                <a:latin typeface="Consolas"/>
                <a:ea typeface="Consolas"/>
                <a:cs typeface="Consolas"/>
                <a:sym typeface="Consolas"/>
              </a:rPr>
              <a:t>bounding_box, </a:t>
            </a:r>
            <a:endParaRPr sz="1200" dirty="0">
              <a:solidFill>
                <a:schemeClr val="dk1"/>
              </a:solidFill>
              <a:latin typeface="Consolas"/>
              <a:ea typeface="Consolas"/>
              <a:cs typeface="Consolas"/>
              <a:sym typeface="Consolas"/>
            </a:endParaRPr>
          </a:p>
          <a:p>
            <a:pPr marL="0" lvl="0" indent="0" algn="l" rtl="0">
              <a:spcBef>
                <a:spcPts val="0"/>
              </a:spcBef>
              <a:spcAft>
                <a:spcPts val="0"/>
              </a:spcAft>
              <a:buNone/>
            </a:pPr>
            <a:r>
              <a:rPr lang="ko" sz="1200" dirty="0">
                <a:solidFill>
                  <a:schemeClr val="dk1"/>
                </a:solidFill>
                <a:latin typeface="Consolas"/>
                <a:ea typeface="Consolas"/>
                <a:cs typeface="Consolas"/>
                <a:sym typeface="Consolas"/>
              </a:rPr>
              <a:t>direction, </a:t>
            </a:r>
            <a:endParaRPr sz="1200" dirty="0">
              <a:solidFill>
                <a:schemeClr val="dk1"/>
              </a:solidFill>
              <a:latin typeface="Consolas"/>
              <a:ea typeface="Consolas"/>
              <a:cs typeface="Consolas"/>
              <a:sym typeface="Consolas"/>
            </a:endParaRPr>
          </a:p>
          <a:p>
            <a:pPr marL="0" lvl="0" indent="0" algn="l" rtl="0">
              <a:spcBef>
                <a:spcPts val="0"/>
              </a:spcBef>
              <a:spcAft>
                <a:spcPts val="0"/>
              </a:spcAft>
              <a:buNone/>
            </a:pPr>
            <a:r>
              <a:rPr lang="ko" sz="1200" dirty="0">
                <a:solidFill>
                  <a:schemeClr val="dk1"/>
                </a:solidFill>
                <a:latin typeface="Consolas"/>
                <a:ea typeface="Consolas"/>
                <a:cs typeface="Consolas"/>
                <a:sym typeface="Consolas"/>
              </a:rPr>
              <a:t>answer_cot</a:t>
            </a:r>
            <a:endParaRPr sz="1200" dirty="0">
              <a:solidFill>
                <a:schemeClr val="dk1"/>
              </a:solidFill>
              <a:latin typeface="Consolas"/>
              <a:ea typeface="Consolas"/>
              <a:cs typeface="Consolas"/>
              <a:sym typeface="Consolas"/>
            </a:endParaRPr>
          </a:p>
          <a:p>
            <a:pPr marL="0" lvl="0" indent="0" algn="l" rtl="0">
              <a:spcBef>
                <a:spcPts val="0"/>
              </a:spcBef>
              <a:spcAft>
                <a:spcPts val="0"/>
              </a:spcAft>
              <a:buNone/>
            </a:pPr>
            <a:r>
              <a:rPr lang="ko" sz="1200" dirty="0">
                <a:solidFill>
                  <a:schemeClr val="dk1"/>
                </a:solidFill>
                <a:latin typeface="Consolas"/>
                <a:ea typeface="Consolas"/>
                <a:cs typeface="Consolas"/>
                <a:sym typeface="Consolas"/>
              </a:rPr>
              <a:t>}</a:t>
            </a:r>
            <a:endParaRPr sz="1200" dirty="0">
              <a:solidFill>
                <a:schemeClr val="dk1"/>
              </a:solidFill>
              <a:latin typeface="Consolas"/>
              <a:ea typeface="Consolas"/>
              <a:cs typeface="Consolas"/>
              <a:sym typeface="Consolas"/>
            </a:endParaRPr>
          </a:p>
        </p:txBody>
      </p:sp>
      <p:sp>
        <p:nvSpPr>
          <p:cNvPr id="2" name="TextBox 1">
            <a:extLst>
              <a:ext uri="{FF2B5EF4-FFF2-40B4-BE49-F238E27FC236}">
                <a16:creationId xmlns:a16="http://schemas.microsoft.com/office/drawing/2014/main" id="{25200CC7-0633-4F35-B1CE-2BA5E5EB10F5}"/>
              </a:ext>
            </a:extLst>
          </p:cNvPr>
          <p:cNvSpPr txBox="1"/>
          <p:nvPr/>
        </p:nvSpPr>
        <p:spPr>
          <a:xfrm>
            <a:off x="2577289" y="1849446"/>
            <a:ext cx="1547218" cy="307777"/>
          </a:xfrm>
          <a:prstGeom prst="rect">
            <a:avLst/>
          </a:prstGeom>
          <a:noFill/>
        </p:spPr>
        <p:txBody>
          <a:bodyPr wrap="none" rtlCol="0">
            <a:spAutoFit/>
          </a:bodyPr>
          <a:lstStyle/>
          <a:p>
            <a:r>
              <a:rPr lang="en-US" altLang="ko-KR" dirty="0"/>
              <a:t>&lt;</a:t>
            </a:r>
            <a:r>
              <a:rPr lang="en-US" altLang="ko-KR" dirty="0" err="1"/>
              <a:t>MVGenMaster</a:t>
            </a:r>
            <a:r>
              <a:rPr lang="en-US" altLang="ko-KR" dirty="0"/>
              <a:t>&gt;</a:t>
            </a:r>
            <a:endParaRPr lang="ko-KR" altLang="en-US" dirty="0"/>
          </a:p>
        </p:txBody>
      </p:sp>
      <p:sp>
        <p:nvSpPr>
          <p:cNvPr id="19" name="TextBox 18">
            <a:extLst>
              <a:ext uri="{FF2B5EF4-FFF2-40B4-BE49-F238E27FC236}">
                <a16:creationId xmlns:a16="http://schemas.microsoft.com/office/drawing/2014/main" id="{E30C0ECD-9804-4032-A081-AB992611FCE5}"/>
              </a:ext>
            </a:extLst>
          </p:cNvPr>
          <p:cNvSpPr txBox="1"/>
          <p:nvPr/>
        </p:nvSpPr>
        <p:spPr>
          <a:xfrm>
            <a:off x="2586031" y="3236713"/>
            <a:ext cx="1388522" cy="307777"/>
          </a:xfrm>
          <a:prstGeom prst="rect">
            <a:avLst/>
          </a:prstGeom>
          <a:noFill/>
        </p:spPr>
        <p:txBody>
          <a:bodyPr wrap="none" rtlCol="0">
            <a:spAutoFit/>
          </a:bodyPr>
          <a:lstStyle/>
          <a:p>
            <a:r>
              <a:rPr lang="en-US" altLang="ko-KR" dirty="0"/>
              <a:t>&lt;Qwen2.5-VL&gt;</a:t>
            </a:r>
            <a:endParaRPr lang="ko-KR" altLang="en-US" dirty="0"/>
          </a:p>
        </p:txBody>
      </p:sp>
      <p:sp>
        <p:nvSpPr>
          <p:cNvPr id="20" name="Google Shape;118;p18">
            <a:extLst>
              <a:ext uri="{FF2B5EF4-FFF2-40B4-BE49-F238E27FC236}">
                <a16:creationId xmlns:a16="http://schemas.microsoft.com/office/drawing/2014/main" id="{BD203106-76C5-4BF9-BA5A-AF21627887B0}"/>
              </a:ext>
            </a:extLst>
          </p:cNvPr>
          <p:cNvSpPr txBox="1"/>
          <p:nvPr/>
        </p:nvSpPr>
        <p:spPr>
          <a:xfrm>
            <a:off x="0" y="4659658"/>
            <a:ext cx="9339900" cy="50780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000" dirty="0">
                <a:solidFill>
                  <a:schemeClr val="bg2">
                    <a:lumMod val="60000"/>
                    <a:lumOff val="40000"/>
                  </a:schemeClr>
                </a:solidFill>
                <a:highlight>
                  <a:srgbClr val="FFFFFF"/>
                </a:highlight>
              </a:rPr>
              <a:t>[3] Cao, Chenjie, et al. "MVGenMaster: Scaling Multi-View Generation from Any Image via 3D Priors Enhanced Diffusion Model." (CVPR)2025.</a:t>
            </a:r>
            <a:endParaRPr sz="1000" dirty="0">
              <a:solidFill>
                <a:schemeClr val="bg2">
                  <a:lumMod val="60000"/>
                  <a:lumOff val="40000"/>
                </a:schemeClr>
              </a:solidFill>
              <a:highlight>
                <a:srgbClr val="FFFFFF"/>
              </a:highlight>
            </a:endParaRPr>
          </a:p>
          <a:p>
            <a:pPr marL="0" lvl="0" indent="0" algn="l" rtl="0">
              <a:spcBef>
                <a:spcPts val="0"/>
              </a:spcBef>
              <a:spcAft>
                <a:spcPts val="0"/>
              </a:spcAft>
              <a:buNone/>
            </a:pPr>
            <a:r>
              <a:rPr lang="en-US" sz="1000" dirty="0">
                <a:solidFill>
                  <a:schemeClr val="bg2">
                    <a:lumMod val="60000"/>
                    <a:lumOff val="40000"/>
                  </a:schemeClr>
                </a:solidFill>
                <a:highlight>
                  <a:srgbClr val="FFFFFF"/>
                </a:highlight>
              </a:rPr>
              <a:t>[4] </a:t>
            </a:r>
            <a:r>
              <a:rPr lang="en-US" altLang="ko-KR" sz="1100" dirty="0" err="1">
                <a:solidFill>
                  <a:schemeClr val="bg2">
                    <a:lumMod val="60000"/>
                    <a:lumOff val="40000"/>
                  </a:schemeClr>
                </a:solidFill>
              </a:rPr>
              <a:t>Qwen</a:t>
            </a:r>
            <a:r>
              <a:rPr lang="en-US" altLang="ko-KR" sz="1100" dirty="0">
                <a:solidFill>
                  <a:schemeClr val="bg2">
                    <a:lumMod val="60000"/>
                    <a:lumOff val="40000"/>
                  </a:schemeClr>
                </a:solidFill>
              </a:rPr>
              <a:t> Team. “Qwen2.5-VL: Advancing Vision-Language Models with Strong Multimodal Reasoning.” </a:t>
            </a:r>
            <a:r>
              <a:rPr lang="en-US" altLang="ko-KR" sz="1100" dirty="0" err="1">
                <a:solidFill>
                  <a:schemeClr val="bg2">
                    <a:lumMod val="60000"/>
                    <a:lumOff val="40000"/>
                  </a:schemeClr>
                </a:solidFill>
              </a:rPr>
              <a:t>arXiv</a:t>
            </a:r>
            <a:r>
              <a:rPr lang="en-US" altLang="ko-KR" sz="1100" dirty="0">
                <a:solidFill>
                  <a:schemeClr val="bg2">
                    <a:lumMod val="60000"/>
                    <a:lumOff val="40000"/>
                  </a:schemeClr>
                </a:solidFill>
              </a:rPr>
              <a:t> Technical Report.</a:t>
            </a:r>
            <a:endParaRPr sz="1000" dirty="0">
              <a:solidFill>
                <a:schemeClr val="bg2">
                  <a:lumMod val="60000"/>
                  <a:lumOff val="40000"/>
                </a:schemeClr>
              </a:solidFill>
              <a:highlight>
                <a:srgbClr val="FFFFFF"/>
              </a:highlight>
            </a:endParaRPr>
          </a:p>
        </p:txBody>
      </p:sp>
      <p:sp>
        <p:nvSpPr>
          <p:cNvPr id="22" name="Google Shape;140;p20">
            <a:extLst>
              <a:ext uri="{FF2B5EF4-FFF2-40B4-BE49-F238E27FC236}">
                <a16:creationId xmlns:a16="http://schemas.microsoft.com/office/drawing/2014/main" id="{AB8727B3-A857-4D63-A295-478DE229508B}"/>
              </a:ext>
            </a:extLst>
          </p:cNvPr>
          <p:cNvSpPr/>
          <p:nvPr/>
        </p:nvSpPr>
        <p:spPr>
          <a:xfrm>
            <a:off x="2586031" y="836859"/>
            <a:ext cx="1587300" cy="822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ko" sz="1200" dirty="0">
                <a:solidFill>
                  <a:schemeClr val="dk1"/>
                </a:solidFill>
              </a:rPr>
              <a:t>spatial information editing</a:t>
            </a:r>
            <a:endParaRPr sz="1200" dirty="0">
              <a:solidFill>
                <a:schemeClr val="dk1"/>
              </a:solidFill>
            </a:endParaRPr>
          </a:p>
        </p:txBody>
      </p:sp>
      <p:sp>
        <p:nvSpPr>
          <p:cNvPr id="23" name="Google Shape;144;p20">
            <a:extLst>
              <a:ext uri="{FF2B5EF4-FFF2-40B4-BE49-F238E27FC236}">
                <a16:creationId xmlns:a16="http://schemas.microsoft.com/office/drawing/2014/main" id="{BAD04AE4-4288-4339-8C58-767F1FF2A4ED}"/>
              </a:ext>
            </a:extLst>
          </p:cNvPr>
          <p:cNvSpPr txBox="1"/>
          <p:nvPr/>
        </p:nvSpPr>
        <p:spPr>
          <a:xfrm>
            <a:off x="4260300" y="723852"/>
            <a:ext cx="1360800" cy="9232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200" dirty="0">
                <a:solidFill>
                  <a:schemeClr val="dk1"/>
                </a:solidFill>
                <a:latin typeface="Consolas"/>
                <a:ea typeface="Consolas"/>
                <a:cs typeface="Consolas"/>
                <a:sym typeface="Consolas"/>
              </a:rPr>
              <a:t>{</a:t>
            </a:r>
            <a:endParaRPr sz="1200" dirty="0">
              <a:solidFill>
                <a:schemeClr val="dk1"/>
              </a:solidFill>
              <a:latin typeface="Consolas"/>
              <a:ea typeface="Consolas"/>
              <a:cs typeface="Consolas"/>
              <a:sym typeface="Consolas"/>
            </a:endParaRPr>
          </a:p>
          <a:p>
            <a:pPr marL="0" lvl="0" indent="0" algn="l" rtl="0">
              <a:spcBef>
                <a:spcPts val="0"/>
              </a:spcBef>
              <a:spcAft>
                <a:spcPts val="0"/>
              </a:spcAft>
              <a:buNone/>
            </a:pPr>
            <a:r>
              <a:rPr lang="ko" sz="1200" dirty="0">
                <a:solidFill>
                  <a:schemeClr val="dk1"/>
                </a:solidFill>
                <a:latin typeface="Consolas"/>
                <a:ea typeface="Consolas"/>
                <a:cs typeface="Consolas"/>
                <a:sym typeface="Consolas"/>
              </a:rPr>
              <a:t>bounding_box, </a:t>
            </a:r>
            <a:endParaRPr sz="1200" dirty="0">
              <a:solidFill>
                <a:schemeClr val="dk1"/>
              </a:solidFill>
              <a:latin typeface="Consolas"/>
              <a:ea typeface="Consolas"/>
              <a:cs typeface="Consolas"/>
              <a:sym typeface="Consolas"/>
            </a:endParaRPr>
          </a:p>
          <a:p>
            <a:pPr marL="0" lvl="0" indent="0" algn="l" rtl="0">
              <a:spcBef>
                <a:spcPts val="0"/>
              </a:spcBef>
              <a:spcAft>
                <a:spcPts val="0"/>
              </a:spcAft>
              <a:buNone/>
            </a:pPr>
            <a:r>
              <a:rPr lang="ko" sz="1200" dirty="0">
                <a:solidFill>
                  <a:schemeClr val="dk1"/>
                </a:solidFill>
                <a:latin typeface="Consolas"/>
                <a:ea typeface="Consolas"/>
                <a:cs typeface="Consolas"/>
                <a:sym typeface="Consolas"/>
              </a:rPr>
              <a:t>direction, </a:t>
            </a:r>
            <a:endParaRPr sz="1200" dirty="0">
              <a:solidFill>
                <a:schemeClr val="dk1"/>
              </a:solidFill>
              <a:latin typeface="Consolas"/>
              <a:ea typeface="Consolas"/>
              <a:cs typeface="Consolas"/>
              <a:sym typeface="Consolas"/>
            </a:endParaRPr>
          </a:p>
          <a:p>
            <a:pPr marL="0" lvl="0" indent="0" algn="l" rtl="0">
              <a:spcBef>
                <a:spcPts val="0"/>
              </a:spcBef>
              <a:spcAft>
                <a:spcPts val="0"/>
              </a:spcAft>
              <a:buNone/>
            </a:pPr>
            <a:r>
              <a:rPr lang="ko" sz="1200" dirty="0">
                <a:solidFill>
                  <a:schemeClr val="dk1"/>
                </a:solidFill>
                <a:latin typeface="Consolas"/>
                <a:ea typeface="Consolas"/>
                <a:cs typeface="Consolas"/>
                <a:sym typeface="Consolas"/>
              </a:rPr>
              <a:t>}</a:t>
            </a:r>
            <a:endParaRPr sz="1200" dirty="0">
              <a:solidFill>
                <a:schemeClr val="dk1"/>
              </a:solidFill>
              <a:latin typeface="Consolas"/>
              <a:ea typeface="Consolas"/>
              <a:cs typeface="Consolas"/>
              <a:sym typeface="Consolas"/>
            </a:endParaRPr>
          </a:p>
        </p:txBody>
      </p:sp>
      <p:pic>
        <p:nvPicPr>
          <p:cNvPr id="25" name="그림 24">
            <a:extLst>
              <a:ext uri="{FF2B5EF4-FFF2-40B4-BE49-F238E27FC236}">
                <a16:creationId xmlns:a16="http://schemas.microsoft.com/office/drawing/2014/main" id="{52CFDAFD-F83E-45A3-AF13-CC8BBF06B7BF}"/>
              </a:ext>
            </a:extLst>
          </p:cNvPr>
          <p:cNvPicPr>
            <a:picLocks noChangeAspect="1"/>
          </p:cNvPicPr>
          <p:nvPr/>
        </p:nvPicPr>
        <p:blipFill>
          <a:blip r:embed="rId4"/>
          <a:stretch>
            <a:fillRect/>
          </a:stretch>
        </p:blipFill>
        <p:spPr>
          <a:xfrm>
            <a:off x="5542545" y="850169"/>
            <a:ext cx="2002870" cy="5964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dirty="0"/>
              <a:t>Data format </a:t>
            </a:r>
            <a:endParaRPr dirty="0"/>
          </a:p>
        </p:txBody>
      </p:sp>
      <p:sp>
        <p:nvSpPr>
          <p:cNvPr id="124" name="Google Shape;12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9</a:t>
            </a:fld>
            <a:endParaRPr/>
          </a:p>
        </p:txBody>
      </p:sp>
      <p:graphicFrame>
        <p:nvGraphicFramePr>
          <p:cNvPr id="125" name="Google Shape;125;p19"/>
          <p:cNvGraphicFramePr/>
          <p:nvPr>
            <p:extLst>
              <p:ext uri="{D42A27DB-BD31-4B8C-83A1-F6EECF244321}">
                <p14:modId xmlns:p14="http://schemas.microsoft.com/office/powerpoint/2010/main" val="537339920"/>
              </p:ext>
            </p:extLst>
          </p:nvPr>
        </p:nvGraphicFramePr>
        <p:xfrm>
          <a:off x="122841" y="572700"/>
          <a:ext cx="8740603" cy="4388820"/>
        </p:xfrm>
        <a:graphic>
          <a:graphicData uri="http://schemas.openxmlformats.org/drawingml/2006/table">
            <a:tbl>
              <a:tblPr>
                <a:noFill/>
                <a:tableStyleId>{5A2462C7-2DD1-4782-8879-1C0C50533202}</a:tableStyleId>
              </a:tblPr>
              <a:tblGrid>
                <a:gridCol w="2059457">
                  <a:extLst>
                    <a:ext uri="{9D8B030D-6E8A-4147-A177-3AD203B41FA5}">
                      <a16:colId xmlns:a16="http://schemas.microsoft.com/office/drawing/2014/main" val="20000"/>
                    </a:ext>
                  </a:extLst>
                </a:gridCol>
                <a:gridCol w="6681146">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ko" sz="1400">
                          <a:solidFill>
                            <a:schemeClr val="dk1"/>
                          </a:solidFill>
                        </a:rPr>
                        <a:t>Column Name</a:t>
                      </a:r>
                      <a:endParaRPr sz="1400"/>
                    </a:p>
                  </a:txBody>
                  <a:tcPr marL="91425" marR="91425" marT="91425" marB="91425">
                    <a:solidFill>
                      <a:schemeClr val="lt2"/>
                    </a:solidFill>
                  </a:tcPr>
                </a:tc>
                <a:tc>
                  <a:txBody>
                    <a:bodyPr/>
                    <a:lstStyle/>
                    <a:p>
                      <a:pPr marL="0" lvl="0" indent="0" algn="l" rtl="0">
                        <a:spcBef>
                          <a:spcPts val="0"/>
                        </a:spcBef>
                        <a:spcAft>
                          <a:spcPts val="0"/>
                        </a:spcAft>
                        <a:buNone/>
                      </a:pPr>
                      <a:r>
                        <a:rPr lang="ko" sz="1400">
                          <a:solidFill>
                            <a:schemeClr val="dk1"/>
                          </a:solidFill>
                        </a:rPr>
                        <a:t>Description</a:t>
                      </a:r>
                      <a:endParaRPr sz="14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ko" sz="1400" dirty="0">
                          <a:solidFill>
                            <a:schemeClr val="dk1"/>
                          </a:solidFill>
                        </a:rPr>
                        <a:t>question_index</a:t>
                      </a:r>
                      <a:endParaRPr sz="1400" dirty="0"/>
                    </a:p>
                  </a:txBody>
                  <a:tcPr marL="91425" marR="91425" marT="91425" marB="91425"/>
                </a:tc>
                <a:tc>
                  <a:txBody>
                    <a:bodyPr/>
                    <a:lstStyle/>
                    <a:p>
                      <a:pPr marL="0" lvl="0" indent="0" algn="l" rtl="0">
                        <a:spcBef>
                          <a:spcPts val="0"/>
                        </a:spcBef>
                        <a:spcAft>
                          <a:spcPts val="0"/>
                        </a:spcAft>
                        <a:buNone/>
                      </a:pPr>
                      <a:r>
                        <a:rPr lang="ko" sz="1400">
                          <a:solidFill>
                            <a:schemeClr val="dk1"/>
                          </a:solidFill>
                        </a:rPr>
                        <a:t>Unique ID string that identifies each question</a:t>
                      </a:r>
                      <a:endParaRPr sz="14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Clr>
                          <a:schemeClr val="dk1"/>
                        </a:buClr>
                        <a:buSzPts val="1100"/>
                        <a:buFont typeface="Arial"/>
                        <a:buNone/>
                      </a:pPr>
                      <a:r>
                        <a:rPr lang="ko" sz="1400">
                          <a:solidFill>
                            <a:schemeClr val="dk1"/>
                          </a:solidFill>
                        </a:rPr>
                        <a:t>question</a:t>
                      </a:r>
                      <a:endParaRPr sz="1400"/>
                    </a:p>
                  </a:txBody>
                  <a:tcPr marL="91425" marR="91425" marT="91425" marB="91425"/>
                </a:tc>
                <a:tc>
                  <a:txBody>
                    <a:bodyPr/>
                    <a:lstStyle/>
                    <a:p>
                      <a:pPr marL="0" lvl="0" indent="0" algn="l" rtl="0">
                        <a:spcBef>
                          <a:spcPts val="0"/>
                        </a:spcBef>
                        <a:spcAft>
                          <a:spcPts val="0"/>
                        </a:spcAft>
                        <a:buNone/>
                      </a:pPr>
                      <a:r>
                        <a:rPr lang="ko" sz="1400">
                          <a:solidFill>
                            <a:schemeClr val="dk1"/>
                          </a:solidFill>
                        </a:rPr>
                        <a:t>Natural language question about 3D spatial relationships</a:t>
                      </a:r>
                      <a:endParaRPr sz="14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ko" sz="1400" dirty="0">
                          <a:solidFill>
                            <a:schemeClr val="dk1"/>
                          </a:solidFill>
                        </a:rPr>
                        <a:t>bounding_box</a:t>
                      </a:r>
                      <a:endParaRPr sz="1400" dirty="0"/>
                    </a:p>
                  </a:txBody>
                  <a:tcPr marL="91425" marR="91425" marT="91425" marB="91425"/>
                </a:tc>
                <a:tc>
                  <a:txBody>
                    <a:bodyPr/>
                    <a:lstStyle/>
                    <a:p>
                      <a:pPr marL="0" lvl="0" indent="0" algn="l" rtl="0">
                        <a:spcBef>
                          <a:spcPts val="0"/>
                        </a:spcBef>
                        <a:spcAft>
                          <a:spcPts val="0"/>
                        </a:spcAft>
                        <a:buNone/>
                      </a:pPr>
                      <a:r>
                        <a:rPr lang="ko" sz="1400">
                          <a:solidFill>
                            <a:schemeClr val="dk1"/>
                          </a:solidFill>
                        </a:rPr>
                        <a:t>List of 3D positions and names of objects in the image (</a:t>
                      </a:r>
                      <a:r>
                        <a:rPr lang="ko" sz="1400">
                          <a:solidFill>
                            <a:srgbClr val="188038"/>
                          </a:solidFill>
                        </a:rPr>
                        <a:t>bbox_3d</a:t>
                      </a:r>
                      <a:r>
                        <a:rPr lang="ko" sz="1400">
                          <a:solidFill>
                            <a:schemeClr val="dk1"/>
                          </a:solidFill>
                        </a:rPr>
                        <a:t> coordinates + </a:t>
                      </a:r>
                      <a:r>
                        <a:rPr lang="ko" sz="1400">
                          <a:solidFill>
                            <a:srgbClr val="188038"/>
                          </a:solidFill>
                        </a:rPr>
                        <a:t>label</a:t>
                      </a:r>
                      <a:r>
                        <a:rPr lang="ko" sz="1400">
                          <a:solidFill>
                            <a:schemeClr val="dk1"/>
                          </a:solidFill>
                        </a:rPr>
                        <a:t>)</a:t>
                      </a:r>
                      <a:endParaRPr sz="14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ko" sz="1400" dirty="0">
                          <a:solidFill>
                            <a:schemeClr val="dk1"/>
                          </a:solidFill>
                        </a:rPr>
                        <a:t>direction</a:t>
                      </a:r>
                      <a:endParaRPr sz="1400" dirty="0"/>
                    </a:p>
                  </a:txBody>
                  <a:tcPr marL="91425" marR="91425" marT="91425" marB="91425"/>
                </a:tc>
                <a:tc>
                  <a:txBody>
                    <a:bodyPr/>
                    <a:lstStyle/>
                    <a:p>
                      <a:pPr marL="0" lvl="0" indent="0" algn="l" rtl="0">
                        <a:spcBef>
                          <a:spcPts val="0"/>
                        </a:spcBef>
                        <a:spcAft>
                          <a:spcPts val="0"/>
                        </a:spcAft>
                        <a:buNone/>
                      </a:pPr>
                      <a:r>
                        <a:rPr lang="ko" sz="1400" dirty="0">
                          <a:solidFill>
                            <a:schemeClr val="dk1"/>
                          </a:solidFill>
                        </a:rPr>
                        <a:t>List of front/left direction vectors and names for each object (</a:t>
                      </a:r>
                      <a:r>
                        <a:rPr lang="ko" sz="1400" dirty="0">
                          <a:solidFill>
                            <a:srgbClr val="188038"/>
                          </a:solidFill>
                        </a:rPr>
                        <a:t>front_dir</a:t>
                      </a:r>
                      <a:r>
                        <a:rPr lang="ko" sz="1400" dirty="0">
                          <a:solidFill>
                            <a:schemeClr val="dk1"/>
                          </a:solidFill>
                        </a:rPr>
                        <a:t>, </a:t>
                      </a:r>
                      <a:r>
                        <a:rPr lang="ko" sz="1400" dirty="0">
                          <a:solidFill>
                            <a:srgbClr val="188038"/>
                          </a:solidFill>
                        </a:rPr>
                        <a:t>left_dir</a:t>
                      </a:r>
                      <a:r>
                        <a:rPr lang="ko" sz="1400" dirty="0">
                          <a:solidFill>
                            <a:schemeClr val="dk1"/>
                          </a:solidFill>
                        </a:rPr>
                        <a:t>, </a:t>
                      </a:r>
                      <a:r>
                        <a:rPr lang="ko" sz="1400" dirty="0">
                          <a:solidFill>
                            <a:srgbClr val="188038"/>
                          </a:solidFill>
                        </a:rPr>
                        <a:t>label</a:t>
                      </a:r>
                      <a:r>
                        <a:rPr lang="ko" sz="1400" dirty="0">
                          <a:solidFill>
                            <a:schemeClr val="dk1"/>
                          </a:solidFill>
                        </a:rPr>
                        <a:t>)</a:t>
                      </a:r>
                      <a:endParaRPr sz="1400" dirty="0"/>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ko" sz="1400">
                          <a:solidFill>
                            <a:schemeClr val="dk1"/>
                          </a:solidFill>
                        </a:rPr>
                        <a:t>answer</a:t>
                      </a:r>
                      <a:endParaRPr sz="1400"/>
                    </a:p>
                  </a:txBody>
                  <a:tcPr marL="91425" marR="91425" marT="91425" marB="91425"/>
                </a:tc>
                <a:tc>
                  <a:txBody>
                    <a:bodyPr/>
                    <a:lstStyle/>
                    <a:p>
                      <a:pPr marL="0" lvl="0" indent="0" algn="l" rtl="0">
                        <a:spcBef>
                          <a:spcPts val="0"/>
                        </a:spcBef>
                        <a:spcAft>
                          <a:spcPts val="0"/>
                        </a:spcAft>
                        <a:buNone/>
                      </a:pPr>
                      <a:r>
                        <a:rPr lang="ko" sz="1400">
                          <a:solidFill>
                            <a:schemeClr val="dk1"/>
                          </a:solidFill>
                        </a:rPr>
                        <a:t>Index character of the correct answer choice (</a:t>
                      </a:r>
                      <a:r>
                        <a:rPr lang="ko" sz="1400">
                          <a:solidFill>
                            <a:srgbClr val="188038"/>
                          </a:solidFill>
                        </a:rPr>
                        <a:t>"A"</a:t>
                      </a:r>
                      <a:r>
                        <a:rPr lang="ko" sz="1400">
                          <a:solidFill>
                            <a:schemeClr val="dk1"/>
                          </a:solidFill>
                        </a:rPr>
                        <a:t>, </a:t>
                      </a:r>
                      <a:r>
                        <a:rPr lang="ko" sz="1400">
                          <a:solidFill>
                            <a:srgbClr val="188038"/>
                          </a:solidFill>
                        </a:rPr>
                        <a:t>"B"</a:t>
                      </a:r>
                      <a:r>
                        <a:rPr lang="ko" sz="1400">
                          <a:solidFill>
                            <a:schemeClr val="dk1"/>
                          </a:solidFill>
                        </a:rPr>
                        <a:t>, </a:t>
                      </a:r>
                      <a:r>
                        <a:rPr lang="ko" sz="1400">
                          <a:solidFill>
                            <a:srgbClr val="188038"/>
                          </a:solidFill>
                        </a:rPr>
                        <a:t>"C"</a:t>
                      </a:r>
                      <a:r>
                        <a:rPr lang="ko" sz="1400">
                          <a:solidFill>
                            <a:schemeClr val="dk1"/>
                          </a:solidFill>
                        </a:rPr>
                        <a:t>, or </a:t>
                      </a:r>
                      <a:r>
                        <a:rPr lang="ko" sz="1400">
                          <a:solidFill>
                            <a:srgbClr val="188038"/>
                          </a:solidFill>
                        </a:rPr>
                        <a:t>"D"</a:t>
                      </a:r>
                      <a:r>
                        <a:rPr lang="ko" sz="1400">
                          <a:solidFill>
                            <a:schemeClr val="dk1"/>
                          </a:solidFill>
                        </a:rPr>
                        <a:t>)</a:t>
                      </a:r>
                      <a:endParaRPr sz="1400"/>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ko" sz="1400" dirty="0">
                          <a:solidFill>
                            <a:schemeClr val="dk1"/>
                          </a:solidFill>
                        </a:rPr>
                        <a:t>answer_cot</a:t>
                      </a:r>
                      <a:endParaRPr sz="1400" dirty="0"/>
                    </a:p>
                  </a:txBody>
                  <a:tcPr marL="91425" marR="91425" marT="91425" marB="91425"/>
                </a:tc>
                <a:tc>
                  <a:txBody>
                    <a:bodyPr/>
                    <a:lstStyle/>
                    <a:p>
                      <a:pPr marL="0" lvl="0" indent="0" algn="l" rtl="0">
                        <a:spcBef>
                          <a:spcPts val="0"/>
                        </a:spcBef>
                        <a:spcAft>
                          <a:spcPts val="0"/>
                        </a:spcAft>
                        <a:buNone/>
                      </a:pPr>
                      <a:r>
                        <a:rPr lang="ko" sz="1400">
                          <a:solidFill>
                            <a:schemeClr val="dk1"/>
                          </a:solidFill>
                        </a:rPr>
                        <a:t>Chain-of-thought text explaining the reasoning process to reach the answer</a:t>
                      </a:r>
                      <a:endParaRPr sz="1400"/>
                    </a:p>
                  </a:txBody>
                  <a:tcPr marL="91425" marR="91425" marT="91425" marB="91425"/>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ko" sz="1400">
                          <a:solidFill>
                            <a:schemeClr val="dk1"/>
                          </a:solidFill>
                        </a:rPr>
                        <a:t>answer_name</a:t>
                      </a:r>
                      <a:endParaRPr sz="1400"/>
                    </a:p>
                  </a:txBody>
                  <a:tcPr marL="91425" marR="91425" marT="91425" marB="91425"/>
                </a:tc>
                <a:tc>
                  <a:txBody>
                    <a:bodyPr/>
                    <a:lstStyle/>
                    <a:p>
                      <a:pPr marL="0" lvl="0" indent="0" algn="l" rtl="0">
                        <a:spcBef>
                          <a:spcPts val="0"/>
                        </a:spcBef>
                        <a:spcAft>
                          <a:spcPts val="0"/>
                        </a:spcAft>
                        <a:buNone/>
                      </a:pPr>
                      <a:r>
                        <a:rPr lang="ko" sz="1400">
                          <a:solidFill>
                            <a:schemeClr val="dk1"/>
                          </a:solidFill>
                        </a:rPr>
                        <a:t>Human-readable name of the correct answer choice (e.g., </a:t>
                      </a:r>
                      <a:r>
                        <a:rPr lang="ko" sz="1400">
                          <a:solidFill>
                            <a:srgbClr val="188038"/>
                          </a:solidFill>
                        </a:rPr>
                        <a:t>A. the microphone.</a:t>
                      </a:r>
                      <a:r>
                        <a:rPr lang="ko" sz="1400">
                          <a:solidFill>
                            <a:schemeClr val="dk1"/>
                          </a:solidFill>
                        </a:rPr>
                        <a:t>)</a:t>
                      </a:r>
                      <a:endParaRPr sz="1400"/>
                    </a:p>
                  </a:txBody>
                  <a:tcPr marL="91425" marR="91425" marT="91425" marB="91425"/>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ko" sz="1400">
                          <a:solidFill>
                            <a:schemeClr val="dk1"/>
                          </a:solidFill>
                        </a:rPr>
                        <a:t>category</a:t>
                      </a:r>
                      <a:endParaRPr sz="1400"/>
                    </a:p>
                  </a:txBody>
                  <a:tcPr marL="91425" marR="91425" marT="91425" marB="91425"/>
                </a:tc>
                <a:tc>
                  <a:txBody>
                    <a:bodyPr/>
                    <a:lstStyle/>
                    <a:p>
                      <a:pPr marL="0" lvl="0" indent="0" algn="l" rtl="0">
                        <a:spcBef>
                          <a:spcPts val="0"/>
                        </a:spcBef>
                        <a:spcAft>
                          <a:spcPts val="0"/>
                        </a:spcAft>
                        <a:buNone/>
                      </a:pPr>
                      <a:r>
                        <a:rPr lang="ko" sz="1400">
                          <a:solidFill>
                            <a:schemeClr val="dk1"/>
                          </a:solidFill>
                        </a:rPr>
                        <a:t>Spatial reasoning type tag for the question (e.g., </a:t>
                      </a:r>
                      <a:r>
                        <a:rPr lang="ko" sz="1400">
                          <a:solidFill>
                            <a:srgbClr val="188038"/>
                          </a:solidFill>
                        </a:rPr>
                        <a:t>orientation_in_front_of</a:t>
                      </a:r>
                      <a:r>
                        <a:rPr lang="ko" sz="1400">
                          <a:solidFill>
                            <a:schemeClr val="dk1"/>
                          </a:solidFill>
                        </a:rPr>
                        <a:t>)</a:t>
                      </a:r>
                      <a:endParaRPr sz="1400"/>
                    </a:p>
                  </a:txBody>
                  <a:tcPr marL="91425" marR="91425" marT="91425" marB="91425"/>
                </a:tc>
                <a:extLst>
                  <a:ext uri="{0D108BD9-81ED-4DB2-BD59-A6C34878D82A}">
                    <a16:rowId xmlns:a16="http://schemas.microsoft.com/office/drawing/2014/main" val="10008"/>
                  </a:ext>
                </a:extLst>
              </a:tr>
              <a:tr h="381000">
                <a:tc>
                  <a:txBody>
                    <a:bodyPr/>
                    <a:lstStyle/>
                    <a:p>
                      <a:pPr marL="0" lvl="0" indent="0" algn="l" rtl="0">
                        <a:spcBef>
                          <a:spcPts val="0"/>
                        </a:spcBef>
                        <a:spcAft>
                          <a:spcPts val="0"/>
                        </a:spcAft>
                        <a:buNone/>
                      </a:pPr>
                      <a:r>
                        <a:rPr lang="ko" sz="1400">
                          <a:solidFill>
                            <a:schemeClr val="dk1"/>
                          </a:solidFill>
                        </a:rPr>
                        <a:t>image_filename</a:t>
                      </a:r>
                      <a:endParaRPr sz="1400"/>
                    </a:p>
                  </a:txBody>
                  <a:tcPr marL="91425" marR="91425" marT="91425" marB="91425"/>
                </a:tc>
                <a:tc>
                  <a:txBody>
                    <a:bodyPr/>
                    <a:lstStyle/>
                    <a:p>
                      <a:pPr marL="0" lvl="0" indent="0" algn="l" rtl="0">
                        <a:spcBef>
                          <a:spcPts val="0"/>
                        </a:spcBef>
                        <a:spcAft>
                          <a:spcPts val="0"/>
                        </a:spcAft>
                        <a:buNone/>
                      </a:pPr>
                      <a:r>
                        <a:rPr lang="ko" sz="1400" dirty="0">
                          <a:solidFill>
                            <a:schemeClr val="dk1"/>
                          </a:solidFill>
                        </a:rPr>
                        <a:t>Original image filename that this question references</a:t>
                      </a:r>
                      <a:endParaRPr sz="1400" dirty="0"/>
                    </a:p>
                  </a:txBody>
                  <a:tcPr marL="91425" marR="91425" marT="91425" marB="91425"/>
                </a:tc>
                <a:extLst>
                  <a:ext uri="{0D108BD9-81ED-4DB2-BD59-A6C34878D82A}">
                    <a16:rowId xmlns:a16="http://schemas.microsoft.com/office/drawing/2014/main" val="1000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C6DFDC61-B99A-4617-9C2C-9C20CF504E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ko" smtClean="0"/>
              <a:t>10</a:t>
            </a:fld>
            <a:endParaRPr lang="ko" altLang="en-US"/>
          </a:p>
        </p:txBody>
      </p:sp>
      <p:sp>
        <p:nvSpPr>
          <p:cNvPr id="5" name="Google Shape;150;p21">
            <a:extLst>
              <a:ext uri="{FF2B5EF4-FFF2-40B4-BE49-F238E27FC236}">
                <a16:creationId xmlns:a16="http://schemas.microsoft.com/office/drawing/2014/main" id="{F5FB1423-BA54-4735-A3F1-772B008EF8C8}"/>
              </a:ext>
            </a:extLst>
          </p:cNvPr>
          <p:cNvSpPr txBox="1">
            <a:spLocks noGrp="1"/>
          </p:cNvSpPr>
          <p:nvPr>
            <p:ph type="title"/>
          </p:nvPr>
        </p:nvSpPr>
        <p:spPr>
          <a:xfrm>
            <a:off x="0" y="1623"/>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dirty="0"/>
              <a:t>Novel view image augmentation</a:t>
            </a:r>
            <a:r>
              <a:rPr lang="en-US" altLang="ko" dirty="0"/>
              <a:t> (</a:t>
            </a:r>
            <a:r>
              <a:rPr lang="ko" altLang="ko-KR" dirty="0">
                <a:solidFill>
                  <a:schemeClr val="dk1"/>
                </a:solidFill>
              </a:rPr>
              <a:t>MVGenMaster</a:t>
            </a:r>
            <a:r>
              <a:rPr lang="en-US" altLang="ko" dirty="0"/>
              <a:t>)</a:t>
            </a:r>
            <a:endParaRPr dirty="0"/>
          </a:p>
        </p:txBody>
      </p:sp>
      <p:sp>
        <p:nvSpPr>
          <p:cNvPr id="6" name="Google Shape;153;p21">
            <a:extLst>
              <a:ext uri="{FF2B5EF4-FFF2-40B4-BE49-F238E27FC236}">
                <a16:creationId xmlns:a16="http://schemas.microsoft.com/office/drawing/2014/main" id="{83BDB9D7-7850-4184-9DC5-E4E63FECE213}"/>
              </a:ext>
            </a:extLst>
          </p:cNvPr>
          <p:cNvSpPr txBox="1"/>
          <p:nvPr/>
        </p:nvSpPr>
        <p:spPr>
          <a:xfrm>
            <a:off x="136418" y="646775"/>
            <a:ext cx="89457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ko" dirty="0">
                <a:solidFill>
                  <a:schemeClr val="dk1"/>
                </a:solidFill>
              </a:rPr>
              <a:t>MVGenMaster is a </a:t>
            </a:r>
            <a:r>
              <a:rPr lang="ko" b="1" dirty="0">
                <a:solidFill>
                  <a:schemeClr val="dk1"/>
                </a:solidFill>
              </a:rPr>
              <a:t>multi-view diffusion model</a:t>
            </a:r>
            <a:r>
              <a:rPr lang="ko" dirty="0">
                <a:solidFill>
                  <a:schemeClr val="dk1"/>
                </a:solidFill>
              </a:rPr>
              <a:t> that leverages 3D priors to generate up to dozens to around one hundred novel views in a single pass, given one or multiple reference images as input.</a:t>
            </a:r>
            <a:endParaRPr sz="1600" dirty="0"/>
          </a:p>
        </p:txBody>
      </p:sp>
      <p:sp>
        <p:nvSpPr>
          <p:cNvPr id="7" name="Google Shape;151;p21">
            <a:extLst>
              <a:ext uri="{FF2B5EF4-FFF2-40B4-BE49-F238E27FC236}">
                <a16:creationId xmlns:a16="http://schemas.microsoft.com/office/drawing/2014/main" id="{8F7A8ABF-C09B-4395-9DA5-E809B49C3A83}"/>
              </a:ext>
            </a:extLst>
          </p:cNvPr>
          <p:cNvSpPr txBox="1"/>
          <p:nvPr/>
        </p:nvSpPr>
        <p:spPr>
          <a:xfrm>
            <a:off x="0" y="4860017"/>
            <a:ext cx="9339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000" dirty="0">
                <a:solidFill>
                  <a:schemeClr val="tx2">
                    <a:lumMod val="75000"/>
                  </a:schemeClr>
                </a:solidFill>
                <a:highlight>
                  <a:srgbClr val="FFFFFF"/>
                </a:highlight>
              </a:rPr>
              <a:t>[3] Cao, Chenjie, et al. "MVGenMaster: Scaling Multi-View Generation from Any Image via 3D Priors Enhanced Diffusion Model." (CVPR)2025.</a:t>
            </a:r>
            <a:endParaRPr sz="1000" dirty="0">
              <a:solidFill>
                <a:schemeClr val="tx2">
                  <a:lumMod val="75000"/>
                </a:schemeClr>
              </a:solidFill>
              <a:highlight>
                <a:srgbClr val="FFFFFF"/>
              </a:highlight>
            </a:endParaRPr>
          </a:p>
          <a:p>
            <a:pPr marL="0" lvl="0" indent="0" algn="l" rtl="0">
              <a:spcBef>
                <a:spcPts val="0"/>
              </a:spcBef>
              <a:spcAft>
                <a:spcPts val="0"/>
              </a:spcAft>
              <a:buNone/>
            </a:pPr>
            <a:endParaRPr sz="1000" dirty="0">
              <a:solidFill>
                <a:schemeClr val="dk2"/>
              </a:solidFill>
              <a:highlight>
                <a:srgbClr val="FFFFFF"/>
              </a:highlight>
            </a:endParaRPr>
          </a:p>
        </p:txBody>
      </p:sp>
      <p:pic>
        <p:nvPicPr>
          <p:cNvPr id="11" name="그림 10">
            <a:extLst>
              <a:ext uri="{FF2B5EF4-FFF2-40B4-BE49-F238E27FC236}">
                <a16:creationId xmlns:a16="http://schemas.microsoft.com/office/drawing/2014/main" id="{55316512-B7AA-4969-B478-B93A7EE09C3A}"/>
              </a:ext>
            </a:extLst>
          </p:cNvPr>
          <p:cNvPicPr>
            <a:picLocks noChangeAspect="1"/>
          </p:cNvPicPr>
          <p:nvPr/>
        </p:nvPicPr>
        <p:blipFill rotWithShape="1">
          <a:blip r:embed="rId3"/>
          <a:srcRect l="2466" r="2466" b="14805"/>
          <a:stretch/>
        </p:blipFill>
        <p:spPr>
          <a:xfrm>
            <a:off x="3189372" y="1542897"/>
            <a:ext cx="4115889" cy="2200397"/>
          </a:xfrm>
          <a:prstGeom prst="rect">
            <a:avLst/>
          </a:prstGeom>
        </p:spPr>
      </p:pic>
      <p:sp>
        <p:nvSpPr>
          <p:cNvPr id="15" name="TextBox 14">
            <a:extLst>
              <a:ext uri="{FF2B5EF4-FFF2-40B4-BE49-F238E27FC236}">
                <a16:creationId xmlns:a16="http://schemas.microsoft.com/office/drawing/2014/main" id="{E9E11D7A-970F-4F24-9D7A-681B3205C848}"/>
              </a:ext>
            </a:extLst>
          </p:cNvPr>
          <p:cNvSpPr txBox="1"/>
          <p:nvPr/>
        </p:nvSpPr>
        <p:spPr>
          <a:xfrm>
            <a:off x="3550478" y="3716880"/>
            <a:ext cx="3656207" cy="1169551"/>
          </a:xfrm>
          <a:prstGeom prst="rect">
            <a:avLst/>
          </a:prstGeom>
          <a:noFill/>
        </p:spPr>
        <p:txBody>
          <a:bodyPr wrap="square">
            <a:spAutoFit/>
          </a:bodyPr>
          <a:lstStyle/>
          <a:p>
            <a:r>
              <a:rPr sz="1200"/>
              <a:t>The model uses depth information to understand 3D structure, generating geometrically consistent novel views while preserving spatial relationships.</a:t>
            </a:r>
          </a:p>
        </p:txBody>
      </p:sp>
      <p:pic>
        <p:nvPicPr>
          <p:cNvPr id="17" name="그림 16">
            <a:extLst>
              <a:ext uri="{FF2B5EF4-FFF2-40B4-BE49-F238E27FC236}">
                <a16:creationId xmlns:a16="http://schemas.microsoft.com/office/drawing/2014/main" id="{5E9119AC-7B44-4AFF-8A32-5E8D4A506B58}"/>
              </a:ext>
            </a:extLst>
          </p:cNvPr>
          <p:cNvPicPr>
            <a:picLocks noChangeAspect="1"/>
          </p:cNvPicPr>
          <p:nvPr/>
        </p:nvPicPr>
        <p:blipFill rotWithShape="1">
          <a:blip r:embed="rId4"/>
          <a:srcRect l="-226" t="9520" r="226" b="-2207"/>
          <a:stretch/>
        </p:blipFill>
        <p:spPr>
          <a:xfrm>
            <a:off x="0" y="1691046"/>
            <a:ext cx="2758606" cy="1794766"/>
          </a:xfrm>
          <a:prstGeom prst="rect">
            <a:avLst/>
          </a:prstGeom>
        </p:spPr>
      </p:pic>
      <p:pic>
        <p:nvPicPr>
          <p:cNvPr id="19" name="그림 18">
            <a:extLst>
              <a:ext uri="{FF2B5EF4-FFF2-40B4-BE49-F238E27FC236}">
                <a16:creationId xmlns:a16="http://schemas.microsoft.com/office/drawing/2014/main" id="{5AE20847-F627-4F12-BFD1-7A63847106A0}"/>
              </a:ext>
            </a:extLst>
          </p:cNvPr>
          <p:cNvPicPr>
            <a:picLocks noChangeAspect="1"/>
          </p:cNvPicPr>
          <p:nvPr/>
        </p:nvPicPr>
        <p:blipFill>
          <a:blip r:embed="rId5"/>
          <a:stretch>
            <a:fillRect/>
          </a:stretch>
        </p:blipFill>
        <p:spPr>
          <a:xfrm>
            <a:off x="7736027" y="3234698"/>
            <a:ext cx="1088838" cy="804491"/>
          </a:xfrm>
          <a:prstGeom prst="rect">
            <a:avLst/>
          </a:prstGeom>
        </p:spPr>
      </p:pic>
      <p:pic>
        <p:nvPicPr>
          <p:cNvPr id="21" name="그림 20">
            <a:extLst>
              <a:ext uri="{FF2B5EF4-FFF2-40B4-BE49-F238E27FC236}">
                <a16:creationId xmlns:a16="http://schemas.microsoft.com/office/drawing/2014/main" id="{95DC7ED8-6054-453B-8BD6-DAF9EFDE6C89}"/>
              </a:ext>
            </a:extLst>
          </p:cNvPr>
          <p:cNvPicPr>
            <a:picLocks noChangeAspect="1"/>
          </p:cNvPicPr>
          <p:nvPr/>
        </p:nvPicPr>
        <p:blipFill>
          <a:blip r:embed="rId6"/>
          <a:stretch>
            <a:fillRect/>
          </a:stretch>
        </p:blipFill>
        <p:spPr>
          <a:xfrm>
            <a:off x="7798474" y="2143744"/>
            <a:ext cx="963944" cy="971302"/>
          </a:xfrm>
          <a:prstGeom prst="rect">
            <a:avLst/>
          </a:prstGeom>
        </p:spPr>
      </p:pic>
      <p:pic>
        <p:nvPicPr>
          <p:cNvPr id="23" name="그림 22">
            <a:extLst>
              <a:ext uri="{FF2B5EF4-FFF2-40B4-BE49-F238E27FC236}">
                <a16:creationId xmlns:a16="http://schemas.microsoft.com/office/drawing/2014/main" id="{D9AC7083-1D1E-4515-BF01-CBBECB109BC9}"/>
              </a:ext>
            </a:extLst>
          </p:cNvPr>
          <p:cNvPicPr>
            <a:picLocks noChangeAspect="1"/>
          </p:cNvPicPr>
          <p:nvPr/>
        </p:nvPicPr>
        <p:blipFill>
          <a:blip r:embed="rId7"/>
          <a:stretch>
            <a:fillRect/>
          </a:stretch>
        </p:blipFill>
        <p:spPr>
          <a:xfrm>
            <a:off x="7938186" y="1245858"/>
            <a:ext cx="684520" cy="1003444"/>
          </a:xfrm>
          <a:prstGeom prst="rect">
            <a:avLst/>
          </a:prstGeom>
        </p:spPr>
      </p:pic>
      <p:sp>
        <p:nvSpPr>
          <p:cNvPr id="24" name="Google Shape;141;p20">
            <a:extLst>
              <a:ext uri="{FF2B5EF4-FFF2-40B4-BE49-F238E27FC236}">
                <a16:creationId xmlns:a16="http://schemas.microsoft.com/office/drawing/2014/main" id="{00D280FC-5E89-4202-97AE-73F5D4561950}"/>
              </a:ext>
            </a:extLst>
          </p:cNvPr>
          <p:cNvSpPr/>
          <p:nvPr/>
        </p:nvSpPr>
        <p:spPr>
          <a:xfrm>
            <a:off x="2828469" y="2433012"/>
            <a:ext cx="372900" cy="239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 name="Google Shape;141;p20">
            <a:extLst>
              <a:ext uri="{FF2B5EF4-FFF2-40B4-BE49-F238E27FC236}">
                <a16:creationId xmlns:a16="http://schemas.microsoft.com/office/drawing/2014/main" id="{4DC30BDF-E872-4132-B7C2-D7D1E38EACBF}"/>
              </a:ext>
            </a:extLst>
          </p:cNvPr>
          <p:cNvSpPr/>
          <p:nvPr/>
        </p:nvSpPr>
        <p:spPr>
          <a:xfrm>
            <a:off x="7365417" y="2433012"/>
            <a:ext cx="372900" cy="239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 name="TextBox 26">
            <a:extLst>
              <a:ext uri="{FF2B5EF4-FFF2-40B4-BE49-F238E27FC236}">
                <a16:creationId xmlns:a16="http://schemas.microsoft.com/office/drawing/2014/main" id="{5CA50865-F2E3-4137-BDA9-A099917C8132}"/>
              </a:ext>
            </a:extLst>
          </p:cNvPr>
          <p:cNvSpPr txBox="1"/>
          <p:nvPr/>
        </p:nvSpPr>
        <p:spPr>
          <a:xfrm>
            <a:off x="10428" y="3712561"/>
            <a:ext cx="3451903" cy="1169551"/>
          </a:xfrm>
          <a:prstGeom prst="rect">
            <a:avLst/>
          </a:prstGeom>
          <a:noFill/>
        </p:spPr>
        <p:txBody>
          <a:bodyPr wrap="square">
            <a:spAutoFit/>
          </a:bodyPr>
          <a:lstStyle/>
          <a:p>
            <a:r>
              <a:rPr lang="en-US" altLang="ko-KR" dirty="0"/>
              <a:t>We align monocular depth to metric scale using MVS or COLMAP points via RANSAC.</a:t>
            </a:r>
          </a:p>
          <a:p>
            <a:r>
              <a:rPr lang="en-US" altLang="ko-KR" dirty="0"/>
              <a:t> =&gt; </a:t>
            </a:r>
            <a:r>
              <a:rPr lang="en-US" altLang="ko-KR" b="1" dirty="0"/>
              <a:t>enables geometrically valid 3D                  warping</a:t>
            </a:r>
            <a:endParaRPr lang="ko-KR" altLang="en-US" b="1" dirty="0"/>
          </a:p>
        </p:txBody>
      </p:sp>
      <p:sp>
        <p:nvSpPr>
          <p:cNvPr id="29" name="TextBox 28">
            <a:extLst>
              <a:ext uri="{FF2B5EF4-FFF2-40B4-BE49-F238E27FC236}">
                <a16:creationId xmlns:a16="http://schemas.microsoft.com/office/drawing/2014/main" id="{C4602A0F-35DE-4D72-A4E6-61FCE09CF1E0}"/>
              </a:ext>
            </a:extLst>
          </p:cNvPr>
          <p:cNvSpPr txBox="1"/>
          <p:nvPr/>
        </p:nvSpPr>
        <p:spPr>
          <a:xfrm>
            <a:off x="7121769" y="4129130"/>
            <a:ext cx="2218131" cy="307777"/>
          </a:xfrm>
          <a:prstGeom prst="rect">
            <a:avLst/>
          </a:prstGeom>
          <a:noFill/>
        </p:spPr>
        <p:txBody>
          <a:bodyPr wrap="square">
            <a:spAutoFit/>
          </a:bodyPr>
          <a:lstStyle/>
          <a:p>
            <a:r>
              <a:rPr lang="en-US" altLang="ko-KR" b="1" dirty="0"/>
              <a:t>Novel View Generation</a:t>
            </a:r>
            <a:endParaRPr lang="en-US" altLang="ko-KR" dirty="0"/>
          </a:p>
        </p:txBody>
      </p:sp>
    </p:spTree>
    <p:extLst>
      <p:ext uri="{BB962C8B-B14F-4D97-AF65-F5344CB8AC3E}">
        <p14:creationId xmlns:p14="http://schemas.microsoft.com/office/powerpoint/2010/main" val="1524956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40" name="Google Shape;132;p20">
            <a:extLst>
              <a:ext uri="{FF2B5EF4-FFF2-40B4-BE49-F238E27FC236}">
                <a16:creationId xmlns:a16="http://schemas.microsoft.com/office/drawing/2014/main" id="{A65E2BFE-1013-4E5F-8F0A-6FF68A2611EB}"/>
              </a:ext>
            </a:extLst>
          </p:cNvPr>
          <p:cNvSpPr/>
          <p:nvPr/>
        </p:nvSpPr>
        <p:spPr>
          <a:xfrm>
            <a:off x="163910" y="961833"/>
            <a:ext cx="2765712" cy="363572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endParaRPr dirty="0">
              <a:solidFill>
                <a:schemeClr val="dk1"/>
              </a:solidFill>
            </a:endParaRPr>
          </a:p>
        </p:txBody>
      </p:sp>
      <p:sp>
        <p:nvSpPr>
          <p:cNvPr id="150" name="Google Shape;150;p21"/>
          <p:cNvSpPr txBox="1">
            <a:spLocks noGrp="1"/>
          </p:cNvSpPr>
          <p:nvPr>
            <p:ph type="title"/>
          </p:nvPr>
        </p:nvSpPr>
        <p:spPr>
          <a:xfrm>
            <a:off x="0" y="1623"/>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dirty="0"/>
              <a:t>Novel view image augmentation</a:t>
            </a:r>
            <a:endParaRPr dirty="0"/>
          </a:p>
        </p:txBody>
      </p:sp>
      <p:sp>
        <p:nvSpPr>
          <p:cNvPr id="151" name="Google Shape;151;p21"/>
          <p:cNvSpPr txBox="1"/>
          <p:nvPr/>
        </p:nvSpPr>
        <p:spPr>
          <a:xfrm>
            <a:off x="0" y="4825700"/>
            <a:ext cx="9339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000" dirty="0">
                <a:solidFill>
                  <a:schemeClr val="dk2"/>
                </a:solidFill>
                <a:highlight>
                  <a:srgbClr val="FFFFFF"/>
                </a:highlight>
              </a:rPr>
              <a:t>[3] </a:t>
            </a:r>
            <a:r>
              <a:rPr lang="ko" sz="1000" dirty="0">
                <a:solidFill>
                  <a:srgbClr val="222222"/>
                </a:solidFill>
                <a:highlight>
                  <a:srgbClr val="FFFFFF"/>
                </a:highlight>
              </a:rPr>
              <a:t>Cao, Chenjie, et al. "MVGenMaster: Scaling Multi-View Generation from Any Image via 3D Priors Enhanced Diffusion Model." (CVPR)2025.</a:t>
            </a:r>
            <a:endParaRPr sz="1000" dirty="0">
              <a:solidFill>
                <a:srgbClr val="222222"/>
              </a:solidFill>
              <a:highlight>
                <a:srgbClr val="FFFFFF"/>
              </a:highlight>
            </a:endParaRPr>
          </a:p>
          <a:p>
            <a:pPr marL="0" lvl="0" indent="0" algn="l" rtl="0">
              <a:spcBef>
                <a:spcPts val="0"/>
              </a:spcBef>
              <a:spcAft>
                <a:spcPts val="0"/>
              </a:spcAft>
              <a:buNone/>
            </a:pPr>
            <a:endParaRPr sz="1000" dirty="0">
              <a:solidFill>
                <a:schemeClr val="dk2"/>
              </a:solidFill>
              <a:highlight>
                <a:srgbClr val="FFFFFF"/>
              </a:highlight>
            </a:endParaRPr>
          </a:p>
        </p:txBody>
      </p:sp>
      <p:sp>
        <p:nvSpPr>
          <p:cNvPr id="152" name="Google Shape;152;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11</a:t>
            </a:fld>
            <a:endParaRPr/>
          </a:p>
        </p:txBody>
      </p:sp>
      <p:sp>
        <p:nvSpPr>
          <p:cNvPr id="26" name="TextBox 25">
            <a:extLst>
              <a:ext uri="{FF2B5EF4-FFF2-40B4-BE49-F238E27FC236}">
                <a16:creationId xmlns:a16="http://schemas.microsoft.com/office/drawing/2014/main" id="{6093B86E-3AFB-494C-8CA5-D400459F79A7}"/>
              </a:ext>
            </a:extLst>
          </p:cNvPr>
          <p:cNvSpPr txBox="1"/>
          <p:nvPr/>
        </p:nvSpPr>
        <p:spPr>
          <a:xfrm>
            <a:off x="1051474" y="614189"/>
            <a:ext cx="949299" cy="307777"/>
          </a:xfrm>
          <a:prstGeom prst="rect">
            <a:avLst/>
          </a:prstGeom>
          <a:noFill/>
        </p:spPr>
        <p:txBody>
          <a:bodyPr wrap="none" rtlCol="0">
            <a:spAutoFit/>
          </a:bodyPr>
          <a:lstStyle/>
          <a:p>
            <a:r>
              <a:rPr lang="en-US" altLang="ko-KR" dirty="0"/>
              <a:t>&lt;prompt&gt;</a:t>
            </a:r>
            <a:endParaRPr lang="ko-KR" altLang="en-US" dirty="0"/>
          </a:p>
        </p:txBody>
      </p:sp>
      <p:pic>
        <p:nvPicPr>
          <p:cNvPr id="28" name="그림 27">
            <a:extLst>
              <a:ext uri="{FF2B5EF4-FFF2-40B4-BE49-F238E27FC236}">
                <a16:creationId xmlns:a16="http://schemas.microsoft.com/office/drawing/2014/main" id="{B21F1BD8-4764-4D52-AB35-F326DAEC8B8C}"/>
              </a:ext>
            </a:extLst>
          </p:cNvPr>
          <p:cNvPicPr>
            <a:picLocks noChangeAspect="1"/>
          </p:cNvPicPr>
          <p:nvPr/>
        </p:nvPicPr>
        <p:blipFill>
          <a:blip r:embed="rId7"/>
          <a:stretch>
            <a:fillRect/>
          </a:stretch>
        </p:blipFill>
        <p:spPr>
          <a:xfrm>
            <a:off x="1051474" y="1104080"/>
            <a:ext cx="1058068" cy="1058068"/>
          </a:xfrm>
          <a:prstGeom prst="rect">
            <a:avLst/>
          </a:prstGeom>
        </p:spPr>
      </p:pic>
      <p:pic>
        <p:nvPicPr>
          <p:cNvPr id="30" name="output">
            <a:hlinkClick r:id="" action="ppaction://media"/>
            <a:extLst>
              <a:ext uri="{FF2B5EF4-FFF2-40B4-BE49-F238E27FC236}">
                <a16:creationId xmlns:a16="http://schemas.microsoft.com/office/drawing/2014/main" id="{2B2CCC75-137D-4843-AE71-A94E9B12E727}"/>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3093934" y="1275631"/>
            <a:ext cx="1345142" cy="1345142"/>
          </a:xfrm>
          <a:prstGeom prst="rect">
            <a:avLst/>
          </a:prstGeom>
        </p:spPr>
      </p:pic>
      <p:pic>
        <p:nvPicPr>
          <p:cNvPr id="31" name="output">
            <a:hlinkClick r:id="" action="ppaction://media"/>
            <a:extLst>
              <a:ext uri="{FF2B5EF4-FFF2-40B4-BE49-F238E27FC236}">
                <a16:creationId xmlns:a16="http://schemas.microsoft.com/office/drawing/2014/main" id="{D59B3EA3-B953-47D4-9C66-0A80D3B4439A}"/>
              </a:ext>
            </a:extLst>
          </p:cNvPr>
          <p:cNvPicPr>
            <a:picLocks noChangeAspect="1"/>
          </p:cNvPicPr>
          <p:nvPr>
            <a:videoFile r:link="rId4"/>
            <p:extLst>
              <p:ext uri="{DAA4B4D4-6D71-4841-9C94-3DE7FCFB9230}">
                <p14:media xmlns:p14="http://schemas.microsoft.com/office/powerpoint/2010/main" r:embed="rId3"/>
              </p:ext>
            </p:extLst>
          </p:nvPr>
        </p:nvPicPr>
        <p:blipFill>
          <a:blip r:embed="rId9"/>
          <a:stretch>
            <a:fillRect/>
          </a:stretch>
        </p:blipFill>
        <p:spPr>
          <a:xfrm>
            <a:off x="3093934" y="2834937"/>
            <a:ext cx="1345142" cy="1345142"/>
          </a:xfrm>
          <a:prstGeom prst="rect">
            <a:avLst/>
          </a:prstGeom>
        </p:spPr>
      </p:pic>
      <p:pic>
        <p:nvPicPr>
          <p:cNvPr id="33" name="그림 32">
            <a:extLst>
              <a:ext uri="{FF2B5EF4-FFF2-40B4-BE49-F238E27FC236}">
                <a16:creationId xmlns:a16="http://schemas.microsoft.com/office/drawing/2014/main" id="{2130CB2F-3AA6-4614-9173-4AE6E653E676}"/>
              </a:ext>
            </a:extLst>
          </p:cNvPr>
          <p:cNvPicPr>
            <a:picLocks noChangeAspect="1"/>
          </p:cNvPicPr>
          <p:nvPr/>
        </p:nvPicPr>
        <p:blipFill>
          <a:blip r:embed="rId10"/>
          <a:stretch>
            <a:fillRect/>
          </a:stretch>
        </p:blipFill>
        <p:spPr>
          <a:xfrm>
            <a:off x="4603384" y="1654397"/>
            <a:ext cx="2890271" cy="476721"/>
          </a:xfrm>
          <a:prstGeom prst="rect">
            <a:avLst/>
          </a:prstGeom>
        </p:spPr>
      </p:pic>
      <p:pic>
        <p:nvPicPr>
          <p:cNvPr id="37" name="그림 36">
            <a:extLst>
              <a:ext uri="{FF2B5EF4-FFF2-40B4-BE49-F238E27FC236}">
                <a16:creationId xmlns:a16="http://schemas.microsoft.com/office/drawing/2014/main" id="{C3601AF7-1142-4660-84CE-9E94DF5641A3}"/>
              </a:ext>
            </a:extLst>
          </p:cNvPr>
          <p:cNvPicPr>
            <a:picLocks noChangeAspect="1"/>
          </p:cNvPicPr>
          <p:nvPr/>
        </p:nvPicPr>
        <p:blipFill>
          <a:blip r:embed="rId11"/>
          <a:stretch>
            <a:fillRect/>
          </a:stretch>
        </p:blipFill>
        <p:spPr>
          <a:xfrm>
            <a:off x="4580737" y="3279907"/>
            <a:ext cx="2912918" cy="476721"/>
          </a:xfrm>
          <a:prstGeom prst="rect">
            <a:avLst/>
          </a:prstGeom>
        </p:spPr>
      </p:pic>
      <p:pic>
        <p:nvPicPr>
          <p:cNvPr id="41" name="그림 40">
            <a:extLst>
              <a:ext uri="{FF2B5EF4-FFF2-40B4-BE49-F238E27FC236}">
                <a16:creationId xmlns:a16="http://schemas.microsoft.com/office/drawing/2014/main" id="{B58FDB5A-4389-4128-A081-8321D5186B6E}"/>
              </a:ext>
            </a:extLst>
          </p:cNvPr>
          <p:cNvPicPr>
            <a:picLocks noChangeAspect="1"/>
          </p:cNvPicPr>
          <p:nvPr/>
        </p:nvPicPr>
        <p:blipFill>
          <a:blip r:embed="rId12"/>
          <a:stretch>
            <a:fillRect/>
          </a:stretch>
        </p:blipFill>
        <p:spPr>
          <a:xfrm>
            <a:off x="7634272" y="1124149"/>
            <a:ext cx="1345141" cy="1345141"/>
          </a:xfrm>
          <a:prstGeom prst="rect">
            <a:avLst/>
          </a:prstGeom>
        </p:spPr>
      </p:pic>
      <p:pic>
        <p:nvPicPr>
          <p:cNvPr id="43" name="그림 42">
            <a:extLst>
              <a:ext uri="{FF2B5EF4-FFF2-40B4-BE49-F238E27FC236}">
                <a16:creationId xmlns:a16="http://schemas.microsoft.com/office/drawing/2014/main" id="{54101DFD-B3FD-4FD8-9267-EA5A33BB175C}"/>
              </a:ext>
            </a:extLst>
          </p:cNvPr>
          <p:cNvPicPr>
            <a:picLocks noChangeAspect="1"/>
          </p:cNvPicPr>
          <p:nvPr/>
        </p:nvPicPr>
        <p:blipFill>
          <a:blip r:embed="rId13"/>
          <a:stretch>
            <a:fillRect/>
          </a:stretch>
        </p:blipFill>
        <p:spPr>
          <a:xfrm>
            <a:off x="7622589" y="2845697"/>
            <a:ext cx="1345142" cy="1345142"/>
          </a:xfrm>
          <a:prstGeom prst="rect">
            <a:avLst/>
          </a:prstGeom>
        </p:spPr>
      </p:pic>
      <p:sp>
        <p:nvSpPr>
          <p:cNvPr id="2" name="TextBox 1">
            <a:extLst>
              <a:ext uri="{FF2B5EF4-FFF2-40B4-BE49-F238E27FC236}">
                <a16:creationId xmlns:a16="http://schemas.microsoft.com/office/drawing/2014/main" id="{A0EE2E66-956F-4FFA-A248-28528ACD6A44}"/>
              </a:ext>
            </a:extLst>
          </p:cNvPr>
          <p:cNvSpPr txBox="1"/>
          <p:nvPr/>
        </p:nvSpPr>
        <p:spPr>
          <a:xfrm>
            <a:off x="140100" y="2194287"/>
            <a:ext cx="2853989" cy="2031325"/>
          </a:xfrm>
          <a:prstGeom prst="rect">
            <a:avLst/>
          </a:prstGeom>
          <a:noFill/>
        </p:spPr>
        <p:txBody>
          <a:bodyPr wrap="square" rtlCol="0">
            <a:spAutoFit/>
          </a:bodyPr>
          <a:lstStyle/>
          <a:p>
            <a:r>
              <a:rPr lang="en-US" altLang="ko-KR" dirty="0"/>
              <a:t>Reference image (single)</a:t>
            </a:r>
          </a:p>
          <a:p>
            <a:endParaRPr lang="en-US" altLang="ko-KR" dirty="0"/>
          </a:p>
          <a:p>
            <a:r>
              <a:rPr lang="en-US" altLang="ko-KR" dirty="0" err="1"/>
              <a:t>nframe</a:t>
            </a:r>
            <a:r>
              <a:rPr lang="en-US" altLang="ko-KR" dirty="0"/>
              <a:t> : How many novel views to generate</a:t>
            </a:r>
          </a:p>
          <a:p>
            <a:endParaRPr lang="en-US" altLang="ko-KR" dirty="0"/>
          </a:p>
          <a:p>
            <a:r>
              <a:rPr lang="en-US" altLang="ko-KR" dirty="0" err="1"/>
              <a:t>cam_traj</a:t>
            </a:r>
            <a:r>
              <a:rPr lang="en-US" altLang="ko-KR" dirty="0"/>
              <a:t> :Camera trajectory</a:t>
            </a:r>
          </a:p>
          <a:p>
            <a:r>
              <a:rPr lang="en-US" altLang="ko-KR" dirty="0"/>
              <a:t>(swing, free, </a:t>
            </a:r>
            <a:r>
              <a:rPr lang="en-US" altLang="ko-KR" dirty="0" err="1"/>
              <a:t>bi_direction</a:t>
            </a:r>
            <a:r>
              <a:rPr lang="en-US" altLang="ko-KR" dirty="0"/>
              <a:t>, rotation)  </a:t>
            </a:r>
          </a:p>
          <a:p>
            <a:endParaRPr lang="en-US" altLang="ko-KR" dirty="0"/>
          </a:p>
          <a:p>
            <a:r>
              <a:rPr lang="en-US" altLang="ko-KR" dirty="0" err="1"/>
              <a:t>d_phi</a:t>
            </a:r>
            <a:r>
              <a:rPr lang="en-US" altLang="ko-KR" dirty="0"/>
              <a:t> : How much to rotate</a:t>
            </a:r>
            <a:endParaRPr lang="ko-KR"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4" fill="hold"/>
                                        <p:tgtEl>
                                          <p:spTgt spid="3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534"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30"/>
                </p:tgtEl>
              </p:cMediaNode>
            </p:video>
            <p:seq concurrent="1" nextAc="seek">
              <p:cTn id="12" restart="whenNotActive" fill="hold" evtFilter="cancelBubble" nodeType="interactiveSeq">
                <p:stCondLst>
                  <p:cond evt="onClick" delay="0">
                    <p:tgtEl>
                      <p:spTgt spid="3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30"/>
                                        </p:tgtEl>
                                      </p:cBhvr>
                                    </p:cmd>
                                  </p:childTnLst>
                                </p:cTn>
                              </p:par>
                            </p:childTnLst>
                          </p:cTn>
                        </p:par>
                      </p:childTnLst>
                    </p:cTn>
                  </p:par>
                </p:childTnLst>
              </p:cTn>
              <p:nextCondLst>
                <p:cond evt="onClick" delay="0">
                  <p:tgtEl>
                    <p:spTgt spid="30"/>
                  </p:tgtEl>
                </p:cond>
              </p:nextCondLst>
            </p:seq>
            <p:video>
              <p:cMediaNode vol="80000">
                <p:cTn id="17" fill="hold" display="0">
                  <p:stCondLst>
                    <p:cond delay="indefinite"/>
                  </p:stCondLst>
                </p:cTn>
                <p:tgtEl>
                  <p:spTgt spid="31"/>
                </p:tgtEl>
              </p:cMediaNode>
            </p:video>
            <p:seq concurrent="1" nextAc="seek">
              <p:cTn id="18" restart="whenNotActive" fill="hold" evtFilter="cancelBubble" nodeType="interactiveSeq">
                <p:stCondLst>
                  <p:cond evt="onClick" delay="0">
                    <p:tgtEl>
                      <p:spTgt spid="3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31"/>
                                        </p:tgtEl>
                                      </p:cBhvr>
                                    </p:cmd>
                                  </p:childTnLst>
                                </p:cTn>
                              </p:par>
                            </p:childTnLst>
                          </p:cTn>
                        </p:par>
                      </p:childTnLst>
                    </p:cTn>
                  </p:par>
                </p:childTnLst>
              </p:cTn>
              <p:nextCondLst>
                <p:cond evt="onClick" delay="0">
                  <p:tgtEl>
                    <p:spTgt spid="31"/>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ED1B64B-7608-461A-AFC7-8E27EFB803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ko" smtClean="0"/>
              <a:t>12</a:t>
            </a:fld>
            <a:endParaRPr lang="ko" altLang="en-US"/>
          </a:p>
        </p:txBody>
      </p:sp>
      <p:sp>
        <p:nvSpPr>
          <p:cNvPr id="5" name="Google Shape;150;p21">
            <a:extLst>
              <a:ext uri="{FF2B5EF4-FFF2-40B4-BE49-F238E27FC236}">
                <a16:creationId xmlns:a16="http://schemas.microsoft.com/office/drawing/2014/main" id="{8772AE4A-35EC-480A-BD07-2A19C9D261C3}"/>
              </a:ext>
            </a:extLst>
          </p:cNvPr>
          <p:cNvSpPr txBox="1">
            <a:spLocks noGrp="1"/>
          </p:cNvSpPr>
          <p:nvPr>
            <p:ph type="title"/>
          </p:nvPr>
        </p:nvSpPr>
        <p:spPr>
          <a:xfrm>
            <a:off x="0" y="-5579"/>
            <a:ext cx="8520600" cy="572700"/>
          </a:xfrm>
          <a:prstGeom prst="rect">
            <a:avLst/>
          </a:prstGeom>
        </p:spPr>
        <p:txBody>
          <a:bodyPr spcFirstLastPara="1" wrap="square" lIns="91425" tIns="91425" rIns="91425" bIns="91425" anchor="t" anchorCtr="0">
            <a:normAutofit fontScale="90000"/>
          </a:bodyPr>
          <a:lstStyle/>
          <a:p>
            <a:pPr marL="0" lvl="0" indent="0" rtl="0">
              <a:lnSpc>
                <a:spcPct val="115000"/>
              </a:lnSpc>
              <a:spcBef>
                <a:spcPts val="0"/>
              </a:spcBef>
              <a:spcAft>
                <a:spcPts val="0"/>
              </a:spcAft>
              <a:buNone/>
            </a:pPr>
            <a:r>
              <a:rPr lang="en-US" altLang="ko" dirty="0"/>
              <a:t>S</a:t>
            </a:r>
            <a:r>
              <a:rPr lang="en-US" altLang="ko" sz="2800" dirty="0">
                <a:solidFill>
                  <a:schemeClr val="dk1"/>
                </a:solidFill>
              </a:rPr>
              <a:t>patial information editing (</a:t>
            </a:r>
            <a:r>
              <a:rPr lang="en-US" altLang="ko-KR" sz="2800" dirty="0"/>
              <a:t>HF-Aug</a:t>
            </a:r>
            <a:r>
              <a:rPr lang="en-US" altLang="ko" sz="2800" dirty="0">
                <a:solidFill>
                  <a:schemeClr val="dk1"/>
                </a:solidFill>
              </a:rPr>
              <a:t>)</a:t>
            </a:r>
            <a:endParaRPr lang="en-US" altLang="ko-KR" sz="2800" dirty="0">
              <a:solidFill>
                <a:schemeClr val="dk1"/>
              </a:solidFill>
            </a:endParaRPr>
          </a:p>
        </p:txBody>
      </p:sp>
      <p:sp>
        <p:nvSpPr>
          <p:cNvPr id="7" name="TextBox 6">
            <a:extLst>
              <a:ext uri="{FF2B5EF4-FFF2-40B4-BE49-F238E27FC236}">
                <a16:creationId xmlns:a16="http://schemas.microsoft.com/office/drawing/2014/main" id="{D51095A9-2BBE-49FF-BB54-DBA4FAF4D637}"/>
              </a:ext>
            </a:extLst>
          </p:cNvPr>
          <p:cNvSpPr txBox="1"/>
          <p:nvPr/>
        </p:nvSpPr>
        <p:spPr>
          <a:xfrm>
            <a:off x="4572000" y="1174331"/>
            <a:ext cx="4393223" cy="738664"/>
          </a:xfrm>
          <a:prstGeom prst="rect">
            <a:avLst/>
          </a:prstGeom>
          <a:noFill/>
        </p:spPr>
        <p:txBody>
          <a:bodyPr wrap="square">
            <a:spAutoFit/>
          </a:bodyPr>
          <a:lstStyle/>
          <a:p>
            <a:r>
              <a:rPr lang="en-US" altLang="ko-KR" b="0" i="0" dirty="0">
                <a:effectLst/>
                <a:latin typeface="IBM Plex Mono" panose="020B0509050203000203" pitchFamily="49" charset="0"/>
              </a:rPr>
              <a:t>[ { "</a:t>
            </a:r>
            <a:r>
              <a:rPr lang="en-US" altLang="ko-KR" b="0" i="0" dirty="0" err="1">
                <a:effectLst/>
                <a:latin typeface="IBM Plex Mono" panose="020B0509050203000203" pitchFamily="49" charset="0"/>
              </a:rPr>
              <a:t>front_dir</a:t>
            </a:r>
            <a:r>
              <a:rPr lang="en-US" altLang="ko-KR" b="0" i="0" dirty="0">
                <a:effectLst/>
                <a:latin typeface="IBM Plex Mono" panose="020B0509050203000203" pitchFamily="49" charset="0"/>
              </a:rPr>
              <a:t>": [ 0.099, -0.017, -1 ], "label": "the person",</a:t>
            </a:r>
          </a:p>
          <a:p>
            <a:r>
              <a:rPr lang="en-US" altLang="ko-KR" b="0" i="0" dirty="0">
                <a:effectLst/>
                <a:latin typeface="IBM Plex Mono" panose="020B0509050203000203" pitchFamily="49" charset="0"/>
              </a:rPr>
              <a:t> "</a:t>
            </a:r>
            <a:r>
              <a:rPr lang="en-US" altLang="ko-KR" b="0" i="0" dirty="0" err="1">
                <a:effectLst/>
                <a:latin typeface="IBM Plex Mono" panose="020B0509050203000203" pitchFamily="49" charset="0"/>
              </a:rPr>
              <a:t>left_dir</a:t>
            </a:r>
            <a:r>
              <a:rPr lang="en-US" altLang="ko-KR" b="0" i="0" dirty="0">
                <a:effectLst/>
                <a:latin typeface="IBM Plex Mono" panose="020B0509050203000203" pitchFamily="49" charset="0"/>
              </a:rPr>
              <a:t>": [ -0.99, 0.17, -0.1 ] } ]</a:t>
            </a:r>
            <a:endParaRPr lang="ko-KR" altLang="en-US" dirty="0"/>
          </a:p>
        </p:txBody>
      </p:sp>
      <p:sp>
        <p:nvSpPr>
          <p:cNvPr id="9" name="TextBox 8">
            <a:extLst>
              <a:ext uri="{FF2B5EF4-FFF2-40B4-BE49-F238E27FC236}">
                <a16:creationId xmlns:a16="http://schemas.microsoft.com/office/drawing/2014/main" id="{8CA61CC5-BBCE-403F-86E7-739B673DBA1E}"/>
              </a:ext>
            </a:extLst>
          </p:cNvPr>
          <p:cNvSpPr txBox="1"/>
          <p:nvPr/>
        </p:nvSpPr>
        <p:spPr>
          <a:xfrm>
            <a:off x="280811" y="1174331"/>
            <a:ext cx="3584331" cy="738664"/>
          </a:xfrm>
          <a:prstGeom prst="rect">
            <a:avLst/>
          </a:prstGeom>
          <a:noFill/>
        </p:spPr>
        <p:txBody>
          <a:bodyPr wrap="square">
            <a:spAutoFit/>
          </a:bodyPr>
          <a:lstStyle/>
          <a:p>
            <a:r>
              <a:rPr lang="en-US" altLang="ko-KR" b="0" i="0" dirty="0">
                <a:effectLst/>
                <a:latin typeface="IBM Plex Mono" panose="020B0509050203000203" pitchFamily="49" charset="0"/>
              </a:rPr>
              <a:t> { "</a:t>
            </a:r>
            <a:r>
              <a:rPr lang="en-US" altLang="ko-KR" b="0" i="0" dirty="0" err="1">
                <a:effectLst/>
                <a:latin typeface="IBM Plex Mono" panose="020B0509050203000203" pitchFamily="49" charset="0"/>
              </a:rPr>
              <a:t>front_dir</a:t>
            </a:r>
            <a:r>
              <a:rPr lang="en-US" altLang="ko-KR" b="0" i="0" dirty="0">
                <a:effectLst/>
                <a:latin typeface="IBM Plex Mono" panose="020B0509050203000203" pitchFamily="49" charset="0"/>
              </a:rPr>
              <a:t>": [ 0.1, 0, -1 ], "label": "the person", "</a:t>
            </a:r>
            <a:r>
              <a:rPr lang="en-US" altLang="ko-KR" b="0" i="0" dirty="0" err="1">
                <a:effectLst/>
                <a:latin typeface="IBM Plex Mono" panose="020B0509050203000203" pitchFamily="49" charset="0"/>
              </a:rPr>
              <a:t>left_dir</a:t>
            </a:r>
            <a:r>
              <a:rPr lang="en-US" altLang="ko-KR" b="0" i="0" dirty="0">
                <a:effectLst/>
                <a:latin typeface="IBM Plex Mono" panose="020B0509050203000203" pitchFamily="49" charset="0"/>
              </a:rPr>
              <a:t>": [ -1, 0, -0.1 ] } </a:t>
            </a:r>
            <a:endParaRPr lang="ko-KR" altLang="en-US" dirty="0"/>
          </a:p>
        </p:txBody>
      </p:sp>
      <p:sp>
        <p:nvSpPr>
          <p:cNvPr id="16" name="TextBox 15">
            <a:extLst>
              <a:ext uri="{FF2B5EF4-FFF2-40B4-BE49-F238E27FC236}">
                <a16:creationId xmlns:a16="http://schemas.microsoft.com/office/drawing/2014/main" id="{EF142AA1-E354-43D5-978A-B0980D508E44}"/>
              </a:ext>
            </a:extLst>
          </p:cNvPr>
          <p:cNvSpPr txBox="1"/>
          <p:nvPr/>
        </p:nvSpPr>
        <p:spPr>
          <a:xfrm>
            <a:off x="354364" y="771145"/>
            <a:ext cx="1292341" cy="338554"/>
          </a:xfrm>
          <a:prstGeom prst="rect">
            <a:avLst/>
          </a:prstGeom>
          <a:noFill/>
        </p:spPr>
        <p:txBody>
          <a:bodyPr wrap="none" rtlCol="0">
            <a:spAutoFit/>
          </a:bodyPr>
          <a:lstStyle/>
          <a:p>
            <a:r>
              <a:rPr lang="en-US" altLang="ko-KR" sz="1600" b="1" dirty="0"/>
              <a:t>&lt;direction&gt;</a:t>
            </a:r>
            <a:endParaRPr lang="ko-KR" altLang="en-US" sz="1600" b="1" dirty="0"/>
          </a:p>
        </p:txBody>
      </p:sp>
      <p:sp>
        <p:nvSpPr>
          <p:cNvPr id="15" name="Google Shape;166;p22">
            <a:extLst>
              <a:ext uri="{FF2B5EF4-FFF2-40B4-BE49-F238E27FC236}">
                <a16:creationId xmlns:a16="http://schemas.microsoft.com/office/drawing/2014/main" id="{E8F1AECA-3FA4-4358-AC78-0146F44D440E}"/>
              </a:ext>
            </a:extLst>
          </p:cNvPr>
          <p:cNvSpPr txBox="1">
            <a:spLocks/>
          </p:cNvSpPr>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altLang="ko" smtClean="0"/>
              <a:pPr/>
              <a:t>12</a:t>
            </a:fld>
            <a:endParaRPr lang="en-US"/>
          </a:p>
        </p:txBody>
      </p:sp>
      <p:sp>
        <p:nvSpPr>
          <p:cNvPr id="21" name="TextBox 20">
            <a:extLst>
              <a:ext uri="{FF2B5EF4-FFF2-40B4-BE49-F238E27FC236}">
                <a16:creationId xmlns:a16="http://schemas.microsoft.com/office/drawing/2014/main" id="{D793E104-A3E2-420B-8778-BA110564448B}"/>
              </a:ext>
            </a:extLst>
          </p:cNvPr>
          <p:cNvSpPr txBox="1"/>
          <p:nvPr/>
        </p:nvSpPr>
        <p:spPr>
          <a:xfrm>
            <a:off x="1167763" y="4205959"/>
            <a:ext cx="6487085" cy="738664"/>
          </a:xfrm>
          <a:prstGeom prst="rect">
            <a:avLst/>
          </a:prstGeom>
          <a:noFill/>
        </p:spPr>
        <p:txBody>
          <a:bodyPr wrap="square">
            <a:spAutoFit/>
          </a:bodyPr>
          <a:lstStyle/>
          <a:p>
            <a:r>
              <a:rPr lang="en-US" altLang="ko-KR" b="0" i="0" dirty="0">
                <a:effectLst/>
                <a:latin typeface="IBM Plex Mono" panose="020B0509050203000203" pitchFamily="49" charset="0"/>
              </a:rPr>
              <a:t>{ "bbox_3d": [ -0.28, 0.16, 2.3 ], "label": "the person" }, { "bbox_3d": [ 0, 0, 1 ], "label": "the billiard table" }, { "bbox_3d": [ 2.07, 0.24, 4 ], "label": "the pillar" }</a:t>
            </a:r>
            <a:endParaRPr lang="ko-KR" altLang="en-US" dirty="0"/>
          </a:p>
        </p:txBody>
      </p:sp>
      <p:sp>
        <p:nvSpPr>
          <p:cNvPr id="22" name="TextBox 21">
            <a:extLst>
              <a:ext uri="{FF2B5EF4-FFF2-40B4-BE49-F238E27FC236}">
                <a16:creationId xmlns:a16="http://schemas.microsoft.com/office/drawing/2014/main" id="{96DE1816-6C78-45E1-BDE5-26EF0406937F}"/>
              </a:ext>
            </a:extLst>
          </p:cNvPr>
          <p:cNvSpPr txBox="1"/>
          <p:nvPr/>
        </p:nvSpPr>
        <p:spPr>
          <a:xfrm>
            <a:off x="1198992" y="2690145"/>
            <a:ext cx="6859945" cy="738664"/>
          </a:xfrm>
          <a:prstGeom prst="rect">
            <a:avLst/>
          </a:prstGeom>
          <a:noFill/>
        </p:spPr>
        <p:txBody>
          <a:bodyPr wrap="square">
            <a:spAutoFit/>
          </a:bodyPr>
          <a:lstStyle/>
          <a:p>
            <a:r>
              <a:rPr lang="en-US" altLang="ko-KR" b="0" i="0" dirty="0">
                <a:effectLst/>
                <a:latin typeface="IBM Plex Mono" panose="020B0509050203000203" pitchFamily="49" charset="0"/>
              </a:rPr>
              <a:t>{ "bbox_3d": [ -0.3, 0.1, 2.3 ], "label": "the person" }, { "bbox_3d": [ 0, 0, 1 ], "label": "the billiard table" }, { "bbox_3d": [ 2, 0.6, 4 ], "label": "the pillar" } </a:t>
            </a:r>
            <a:endParaRPr lang="ko-KR" altLang="en-US" dirty="0"/>
          </a:p>
        </p:txBody>
      </p:sp>
      <p:sp>
        <p:nvSpPr>
          <p:cNvPr id="23" name="TextBox 22">
            <a:extLst>
              <a:ext uri="{FF2B5EF4-FFF2-40B4-BE49-F238E27FC236}">
                <a16:creationId xmlns:a16="http://schemas.microsoft.com/office/drawing/2014/main" id="{07AE8D6A-020B-405A-B860-31CF4FF7493C}"/>
              </a:ext>
            </a:extLst>
          </p:cNvPr>
          <p:cNvSpPr txBox="1"/>
          <p:nvPr/>
        </p:nvSpPr>
        <p:spPr>
          <a:xfrm>
            <a:off x="354364" y="2235312"/>
            <a:ext cx="2112129" cy="338554"/>
          </a:xfrm>
          <a:prstGeom prst="rect">
            <a:avLst/>
          </a:prstGeom>
          <a:noFill/>
        </p:spPr>
        <p:txBody>
          <a:bodyPr wrap="square" rtlCol="0">
            <a:spAutoFit/>
          </a:bodyPr>
          <a:lstStyle/>
          <a:p>
            <a:r>
              <a:rPr lang="en-US" altLang="ko-KR" sz="1600" b="1" dirty="0"/>
              <a:t>&lt;</a:t>
            </a:r>
            <a:r>
              <a:rPr lang="ko" altLang="ko-KR" sz="1600" b="1" dirty="0">
                <a:solidFill>
                  <a:schemeClr val="dk1"/>
                </a:solidFill>
              </a:rPr>
              <a:t>bounding</a:t>
            </a:r>
            <a:r>
              <a:rPr lang="en-US" altLang="ko" sz="1600" b="1" dirty="0">
                <a:solidFill>
                  <a:schemeClr val="dk1"/>
                </a:solidFill>
              </a:rPr>
              <a:t> box</a:t>
            </a:r>
            <a:r>
              <a:rPr lang="en-US" altLang="ko-KR" sz="1600" b="1" dirty="0"/>
              <a:t>&gt;</a:t>
            </a:r>
            <a:endParaRPr lang="ko-KR" altLang="en-US" sz="1600" b="1" dirty="0"/>
          </a:p>
        </p:txBody>
      </p:sp>
      <p:sp>
        <p:nvSpPr>
          <p:cNvPr id="24" name="Google Shape;141;p20">
            <a:extLst>
              <a:ext uri="{FF2B5EF4-FFF2-40B4-BE49-F238E27FC236}">
                <a16:creationId xmlns:a16="http://schemas.microsoft.com/office/drawing/2014/main" id="{98E8FFBF-6A6F-4FCE-BB14-650235A111E2}"/>
              </a:ext>
            </a:extLst>
          </p:cNvPr>
          <p:cNvSpPr/>
          <p:nvPr/>
        </p:nvSpPr>
        <p:spPr>
          <a:xfrm>
            <a:off x="3913156" y="1321233"/>
            <a:ext cx="498150" cy="450524"/>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 name="그림 24">
            <a:extLst>
              <a:ext uri="{FF2B5EF4-FFF2-40B4-BE49-F238E27FC236}">
                <a16:creationId xmlns:a16="http://schemas.microsoft.com/office/drawing/2014/main" id="{686ADE86-FDCE-42FF-BDFA-4552E2E86500}"/>
              </a:ext>
            </a:extLst>
          </p:cNvPr>
          <p:cNvPicPr>
            <a:picLocks noChangeAspect="1"/>
          </p:cNvPicPr>
          <p:nvPr/>
        </p:nvPicPr>
        <p:blipFill>
          <a:blip r:embed="rId3"/>
          <a:stretch>
            <a:fillRect/>
          </a:stretch>
        </p:blipFill>
        <p:spPr>
          <a:xfrm>
            <a:off x="4442535" y="3483860"/>
            <a:ext cx="2002870" cy="596483"/>
          </a:xfrm>
          <a:prstGeom prst="rect">
            <a:avLst/>
          </a:prstGeom>
        </p:spPr>
      </p:pic>
      <p:pic>
        <p:nvPicPr>
          <p:cNvPr id="26" name="그림 25">
            <a:extLst>
              <a:ext uri="{FF2B5EF4-FFF2-40B4-BE49-F238E27FC236}">
                <a16:creationId xmlns:a16="http://schemas.microsoft.com/office/drawing/2014/main" id="{95D2BD35-5877-4B53-8C84-56475440202E}"/>
              </a:ext>
            </a:extLst>
          </p:cNvPr>
          <p:cNvPicPr>
            <a:picLocks noChangeAspect="1"/>
          </p:cNvPicPr>
          <p:nvPr/>
        </p:nvPicPr>
        <p:blipFill>
          <a:blip r:embed="rId3"/>
          <a:stretch>
            <a:fillRect/>
          </a:stretch>
        </p:blipFill>
        <p:spPr>
          <a:xfrm>
            <a:off x="2887519" y="1975267"/>
            <a:ext cx="2002870" cy="596483"/>
          </a:xfrm>
          <a:prstGeom prst="rect">
            <a:avLst/>
          </a:prstGeom>
        </p:spPr>
      </p:pic>
      <p:sp>
        <p:nvSpPr>
          <p:cNvPr id="27" name="Google Shape;141;p20">
            <a:extLst>
              <a:ext uri="{FF2B5EF4-FFF2-40B4-BE49-F238E27FC236}">
                <a16:creationId xmlns:a16="http://schemas.microsoft.com/office/drawing/2014/main" id="{35B94DBB-3F11-4EBC-BCD0-42389E96AE52}"/>
              </a:ext>
            </a:extLst>
          </p:cNvPr>
          <p:cNvSpPr/>
          <p:nvPr/>
        </p:nvSpPr>
        <p:spPr>
          <a:xfrm rot="5400000">
            <a:off x="3291769" y="3637645"/>
            <a:ext cx="498150" cy="450524"/>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620230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6" name="Google Shape;166;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13</a:t>
            </a:fld>
            <a:endParaRPr dirty="0"/>
          </a:p>
        </p:txBody>
      </p:sp>
      <p:sp>
        <p:nvSpPr>
          <p:cNvPr id="9" name="Google Shape;150;p21">
            <a:extLst>
              <a:ext uri="{FF2B5EF4-FFF2-40B4-BE49-F238E27FC236}">
                <a16:creationId xmlns:a16="http://schemas.microsoft.com/office/drawing/2014/main" id="{8CC160B8-7879-4C55-A35E-4249CF960745}"/>
              </a:ext>
            </a:extLst>
          </p:cNvPr>
          <p:cNvSpPr txBox="1">
            <a:spLocks noGrp="1"/>
          </p:cNvSpPr>
          <p:nvPr>
            <p:ph type="title"/>
          </p:nvPr>
        </p:nvSpPr>
        <p:spPr>
          <a:xfrm>
            <a:off x="0" y="-5579"/>
            <a:ext cx="8520600" cy="572700"/>
          </a:xfrm>
          <a:prstGeom prst="rect">
            <a:avLst/>
          </a:prstGeom>
        </p:spPr>
        <p:txBody>
          <a:bodyPr spcFirstLastPara="1" wrap="square" lIns="91425" tIns="91425" rIns="91425" bIns="91425" anchor="t" anchorCtr="0">
            <a:normAutofit fontScale="90000"/>
          </a:bodyPr>
          <a:lstStyle/>
          <a:p>
            <a:pPr marL="0" lvl="0" indent="0" rtl="0">
              <a:lnSpc>
                <a:spcPct val="115000"/>
              </a:lnSpc>
              <a:spcBef>
                <a:spcPts val="0"/>
              </a:spcBef>
              <a:spcAft>
                <a:spcPts val="0"/>
              </a:spcAft>
              <a:buNone/>
            </a:pPr>
            <a:r>
              <a:rPr lang="en-US" altLang="ko" dirty="0"/>
              <a:t>S</a:t>
            </a:r>
            <a:r>
              <a:rPr lang="en-US" altLang="ko" sz="2800" dirty="0">
                <a:solidFill>
                  <a:schemeClr val="dk1"/>
                </a:solidFill>
              </a:rPr>
              <a:t>patial information editing </a:t>
            </a:r>
            <a:r>
              <a:rPr lang="en-US" altLang="ko-KR" sz="2800" dirty="0"/>
              <a:t>(</a:t>
            </a:r>
            <a:r>
              <a:rPr lang="en-US" altLang="ko-KR" sz="2800" dirty="0">
                <a:effectLst/>
              </a:rPr>
              <a:t>MVGen-96k</a:t>
            </a:r>
            <a:r>
              <a:rPr lang="en-US" altLang="ko-KR" sz="2800" dirty="0"/>
              <a:t>)</a:t>
            </a:r>
            <a:endParaRPr lang="en-US" altLang="ko-KR" sz="2800" dirty="0">
              <a:solidFill>
                <a:schemeClr val="dk1"/>
              </a:solidFill>
            </a:endParaRPr>
          </a:p>
        </p:txBody>
      </p:sp>
      <p:sp>
        <p:nvSpPr>
          <p:cNvPr id="18" name="TextBox 17">
            <a:extLst>
              <a:ext uri="{FF2B5EF4-FFF2-40B4-BE49-F238E27FC236}">
                <a16:creationId xmlns:a16="http://schemas.microsoft.com/office/drawing/2014/main" id="{6395ACEE-4F5D-410F-B9FF-C42492BB296A}"/>
              </a:ext>
            </a:extLst>
          </p:cNvPr>
          <p:cNvSpPr txBox="1"/>
          <p:nvPr/>
        </p:nvSpPr>
        <p:spPr>
          <a:xfrm>
            <a:off x="578483" y="602088"/>
            <a:ext cx="7738680" cy="2427588"/>
          </a:xfrm>
          <a:prstGeom prst="rect">
            <a:avLst/>
          </a:prstGeom>
          <a:noFill/>
        </p:spPr>
        <p:txBody>
          <a:bodyPr wrap="square">
            <a:spAutoFit/>
          </a:bodyPr>
          <a:lstStyle/>
          <a:p>
            <a:r>
              <a:rPr lang="ko-KR" altLang="en-US" dirty="0">
                <a:latin typeface="Consolas" panose="020B0609020204030204" pitchFamily="49" charset="0"/>
              </a:rPr>
              <a:t>  [SYSTEM MESSAGE]</a:t>
            </a:r>
            <a:endParaRPr lang="en-US" altLang="ko-KR" dirty="0">
              <a:latin typeface="Consolas" panose="020B0609020204030204" pitchFamily="49" charset="0"/>
            </a:endParaRPr>
          </a:p>
          <a:p>
            <a:endParaRPr lang="ko-KR" altLang="en-US" dirty="0">
              <a:latin typeface="Consolas" panose="020B0609020204030204" pitchFamily="49" charset="0"/>
            </a:endParaRPr>
          </a:p>
          <a:p>
            <a:pPr>
              <a:lnSpc>
                <a:spcPct val="150000"/>
              </a:lnSpc>
            </a:pPr>
            <a:r>
              <a:rPr lang="ko-KR" altLang="en-US" dirty="0">
                <a:latin typeface="Consolas" panose="020B0609020204030204" pitchFamily="49" charset="0"/>
              </a:rPr>
              <a:t>  </a:t>
            </a:r>
            <a:r>
              <a:rPr lang="ko-KR" altLang="en-US" dirty="0" err="1">
                <a:latin typeface="Consolas" panose="020B0609020204030204" pitchFamily="49" charset="0"/>
              </a:rPr>
              <a:t>A</a:t>
            </a:r>
            <a:r>
              <a:rPr lang="ko-KR" altLang="en-US" dirty="0">
                <a:latin typeface="Consolas" panose="020B0609020204030204" pitchFamily="49" charset="0"/>
              </a:rPr>
              <a:t> </a:t>
            </a:r>
            <a:r>
              <a:rPr lang="ko-KR" altLang="en-US" dirty="0" err="1">
                <a:latin typeface="Consolas" panose="020B0609020204030204" pitchFamily="49" charset="0"/>
              </a:rPr>
              <a:t>conversation</a:t>
            </a:r>
            <a:r>
              <a:rPr lang="ko-KR" altLang="en-US" dirty="0">
                <a:latin typeface="Consolas" panose="020B0609020204030204" pitchFamily="49" charset="0"/>
              </a:rPr>
              <a:t> </a:t>
            </a:r>
            <a:r>
              <a:rPr lang="ko-KR" altLang="en-US" dirty="0" err="1">
                <a:latin typeface="Consolas" panose="020B0609020204030204" pitchFamily="49" charset="0"/>
              </a:rPr>
              <a:t>between</a:t>
            </a:r>
            <a:r>
              <a:rPr lang="ko-KR" altLang="en-US" dirty="0">
                <a:latin typeface="Consolas" panose="020B0609020204030204" pitchFamily="49" charset="0"/>
              </a:rPr>
              <a:t> </a:t>
            </a:r>
            <a:r>
              <a:rPr lang="ko-KR" altLang="en-US" dirty="0" err="1">
                <a:latin typeface="Consolas" panose="020B0609020204030204" pitchFamily="49" charset="0"/>
              </a:rPr>
              <a:t>User</a:t>
            </a:r>
            <a:r>
              <a:rPr lang="ko-KR" altLang="en-US" dirty="0">
                <a:latin typeface="Consolas" panose="020B0609020204030204" pitchFamily="49" charset="0"/>
              </a:rPr>
              <a:t> and </a:t>
            </a:r>
            <a:r>
              <a:rPr lang="ko-KR" altLang="en-US" dirty="0" err="1">
                <a:latin typeface="Consolas" panose="020B0609020204030204" pitchFamily="49" charset="0"/>
              </a:rPr>
              <a:t>Assistant</a:t>
            </a:r>
            <a:r>
              <a:rPr lang="ko-KR" altLang="en-US" dirty="0">
                <a:latin typeface="Consolas" panose="020B0609020204030204" pitchFamily="49" charset="0"/>
              </a:rPr>
              <a:t>. The </a:t>
            </a:r>
            <a:r>
              <a:rPr lang="ko-KR" altLang="en-US" dirty="0" err="1">
                <a:latin typeface="Consolas" panose="020B0609020204030204" pitchFamily="49" charset="0"/>
              </a:rPr>
              <a:t>user</a:t>
            </a:r>
            <a:r>
              <a:rPr lang="ko-KR" altLang="en-US" dirty="0">
                <a:latin typeface="Consolas" panose="020B0609020204030204" pitchFamily="49" charset="0"/>
              </a:rPr>
              <a:t> </a:t>
            </a:r>
            <a:r>
              <a:rPr lang="ko-KR" altLang="en-US" dirty="0" err="1">
                <a:latin typeface="Consolas" panose="020B0609020204030204" pitchFamily="49" charset="0"/>
              </a:rPr>
              <a:t>asks</a:t>
            </a:r>
            <a:r>
              <a:rPr lang="ko-KR" altLang="en-US" dirty="0">
                <a:latin typeface="Consolas" panose="020B0609020204030204" pitchFamily="49" charset="0"/>
              </a:rPr>
              <a:t> </a:t>
            </a:r>
            <a:r>
              <a:rPr lang="ko-KR" altLang="en-US" dirty="0" err="1">
                <a:latin typeface="Consolas" panose="020B0609020204030204" pitchFamily="49" charset="0"/>
              </a:rPr>
              <a:t>a</a:t>
            </a:r>
            <a:r>
              <a:rPr lang="ko-KR" altLang="en-US" dirty="0">
                <a:latin typeface="Consolas" panose="020B0609020204030204" pitchFamily="49" charset="0"/>
              </a:rPr>
              <a:t> </a:t>
            </a:r>
            <a:r>
              <a:rPr lang="ko-KR" altLang="en-US" dirty="0" err="1">
                <a:latin typeface="Consolas" panose="020B0609020204030204" pitchFamily="49" charset="0"/>
              </a:rPr>
              <a:t>question</a:t>
            </a:r>
            <a:r>
              <a:rPr lang="ko-KR" altLang="en-US" dirty="0">
                <a:latin typeface="Consolas" panose="020B0609020204030204" pitchFamily="49" charset="0"/>
              </a:rPr>
              <a:t>,</a:t>
            </a:r>
          </a:p>
          <a:p>
            <a:pPr>
              <a:lnSpc>
                <a:spcPct val="150000"/>
              </a:lnSpc>
            </a:pPr>
            <a:r>
              <a:rPr lang="ko-KR" altLang="en-US" dirty="0">
                <a:latin typeface="Consolas" panose="020B0609020204030204" pitchFamily="49" charset="0"/>
              </a:rPr>
              <a:t>  and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Assistant</a:t>
            </a:r>
            <a:r>
              <a:rPr lang="ko-KR" altLang="en-US" dirty="0">
                <a:latin typeface="Consolas" panose="020B0609020204030204" pitchFamily="49" charset="0"/>
              </a:rPr>
              <a:t> </a:t>
            </a:r>
            <a:r>
              <a:rPr lang="ko-KR" altLang="en-US" dirty="0" err="1">
                <a:latin typeface="Consolas" panose="020B0609020204030204" pitchFamily="49" charset="0"/>
              </a:rPr>
              <a:t>solves</a:t>
            </a:r>
            <a:r>
              <a:rPr lang="ko-KR" altLang="en-US" dirty="0">
                <a:latin typeface="Consolas" panose="020B0609020204030204" pitchFamily="49" charset="0"/>
              </a:rPr>
              <a:t> </a:t>
            </a:r>
            <a:r>
              <a:rPr lang="ko-KR" altLang="en-US" dirty="0" err="1">
                <a:latin typeface="Consolas" panose="020B0609020204030204" pitchFamily="49" charset="0"/>
              </a:rPr>
              <a:t>it</a:t>
            </a:r>
            <a:r>
              <a:rPr lang="ko-KR" altLang="en-US" dirty="0">
                <a:latin typeface="Consolas" panose="020B0609020204030204" pitchFamily="49" charset="0"/>
              </a:rPr>
              <a:t>. The </a:t>
            </a:r>
            <a:r>
              <a:rPr lang="ko-KR" altLang="en-US" dirty="0" err="1">
                <a:latin typeface="Consolas" panose="020B0609020204030204" pitchFamily="49" charset="0"/>
              </a:rPr>
              <a:t>assistant</a:t>
            </a:r>
            <a:r>
              <a:rPr lang="ko-KR" altLang="en-US" dirty="0">
                <a:latin typeface="Consolas" panose="020B0609020204030204" pitchFamily="49" charset="0"/>
              </a:rPr>
              <a:t> </a:t>
            </a:r>
            <a:r>
              <a:rPr lang="ko-KR" altLang="en-US" dirty="0" err="1">
                <a:latin typeface="Consolas" panose="020B0609020204030204" pitchFamily="49" charset="0"/>
              </a:rPr>
              <a:t>first</a:t>
            </a:r>
            <a:r>
              <a:rPr lang="ko-KR" altLang="en-US" dirty="0">
                <a:latin typeface="Consolas" panose="020B0609020204030204" pitchFamily="49" charset="0"/>
              </a:rPr>
              <a:t> </a:t>
            </a:r>
            <a:r>
              <a:rPr lang="ko-KR" altLang="en-US" dirty="0" err="1">
                <a:latin typeface="Consolas" panose="020B0609020204030204" pitchFamily="49" charset="0"/>
              </a:rPr>
              <a:t>thinks</a:t>
            </a:r>
            <a:r>
              <a:rPr lang="ko-KR" altLang="en-US" dirty="0">
                <a:latin typeface="Consolas" panose="020B0609020204030204" pitchFamily="49" charset="0"/>
              </a:rPr>
              <a:t> </a:t>
            </a:r>
            <a:r>
              <a:rPr lang="ko-KR" altLang="en-US" dirty="0" err="1">
                <a:latin typeface="Consolas" panose="020B0609020204030204" pitchFamily="49" charset="0"/>
              </a:rPr>
              <a:t>about</a:t>
            </a:r>
            <a:r>
              <a:rPr lang="ko-KR" altLang="en-US" dirty="0">
                <a:latin typeface="Consolas" panose="020B0609020204030204" pitchFamily="49" charset="0"/>
              </a:rPr>
              <a:t> </a:t>
            </a:r>
            <a:r>
              <a:rPr lang="ko-KR" altLang="en-US" dirty="0" err="1">
                <a:latin typeface="Consolas" panose="020B0609020204030204" pitchFamily="49" charset="0"/>
              </a:rPr>
              <a:t>the</a:t>
            </a:r>
            <a:endParaRPr lang="ko-KR" altLang="en-US" dirty="0">
              <a:latin typeface="Consolas" panose="020B0609020204030204" pitchFamily="49" charset="0"/>
            </a:endParaRPr>
          </a:p>
          <a:p>
            <a:pPr>
              <a:lnSpc>
                <a:spcPct val="150000"/>
              </a:lnSpc>
            </a:pPr>
            <a:r>
              <a:rPr lang="ko-KR" altLang="en-US" dirty="0">
                <a:latin typeface="Consolas" panose="020B0609020204030204" pitchFamily="49" charset="0"/>
              </a:rPr>
              <a:t>  </a:t>
            </a:r>
            <a:r>
              <a:rPr lang="ko-KR" altLang="en-US" dirty="0" err="1">
                <a:latin typeface="Consolas" panose="020B0609020204030204" pitchFamily="49" charset="0"/>
              </a:rPr>
              <a:t>reasoning</a:t>
            </a:r>
            <a:r>
              <a:rPr lang="ko-KR" altLang="en-US" dirty="0">
                <a:latin typeface="Consolas" panose="020B0609020204030204" pitchFamily="49" charset="0"/>
              </a:rPr>
              <a:t> </a:t>
            </a:r>
            <a:r>
              <a:rPr lang="ko-KR" altLang="en-US" dirty="0" err="1">
                <a:latin typeface="Consolas" panose="020B0609020204030204" pitchFamily="49" charset="0"/>
              </a:rPr>
              <a:t>process</a:t>
            </a:r>
            <a:r>
              <a:rPr lang="ko-KR" altLang="en-US" dirty="0">
                <a:latin typeface="Consolas" panose="020B0609020204030204" pitchFamily="49" charset="0"/>
              </a:rPr>
              <a:t> </a:t>
            </a:r>
            <a:r>
              <a:rPr lang="ko-KR" altLang="en-US" dirty="0" err="1">
                <a:latin typeface="Consolas" panose="020B0609020204030204" pitchFamily="49" charset="0"/>
              </a:rPr>
              <a:t>in</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mind</a:t>
            </a:r>
            <a:r>
              <a:rPr lang="ko-KR" altLang="en-US" dirty="0">
                <a:latin typeface="Consolas" panose="020B0609020204030204" pitchFamily="49" charset="0"/>
              </a:rPr>
              <a:t> and </a:t>
            </a:r>
            <a:r>
              <a:rPr lang="ko-KR" altLang="en-US" dirty="0" err="1">
                <a:latin typeface="Consolas" panose="020B0609020204030204" pitchFamily="49" charset="0"/>
              </a:rPr>
              <a:t>then</a:t>
            </a:r>
            <a:r>
              <a:rPr lang="ko-KR" altLang="en-US" dirty="0">
                <a:latin typeface="Consolas" panose="020B0609020204030204" pitchFamily="49" charset="0"/>
              </a:rPr>
              <a:t> </a:t>
            </a:r>
            <a:r>
              <a:rPr lang="ko-KR" altLang="en-US" dirty="0" err="1">
                <a:latin typeface="Consolas" panose="020B0609020204030204" pitchFamily="49" charset="0"/>
              </a:rPr>
              <a:t>provides</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user</a:t>
            </a:r>
            <a:r>
              <a:rPr lang="ko-KR" altLang="en-US" dirty="0">
                <a:latin typeface="Consolas" panose="020B0609020204030204" pitchFamily="49" charset="0"/>
              </a:rPr>
              <a:t> </a:t>
            </a:r>
            <a:r>
              <a:rPr lang="ko-KR" altLang="en-US" dirty="0" err="1">
                <a:latin typeface="Consolas" panose="020B0609020204030204" pitchFamily="49" charset="0"/>
              </a:rPr>
              <a:t>with</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answer</a:t>
            </a:r>
            <a:r>
              <a:rPr lang="ko-KR" altLang="en-US" dirty="0">
                <a:latin typeface="Consolas" panose="020B0609020204030204" pitchFamily="49" charset="0"/>
              </a:rPr>
              <a:t>.</a:t>
            </a:r>
          </a:p>
          <a:p>
            <a:pPr>
              <a:lnSpc>
                <a:spcPct val="150000"/>
              </a:lnSpc>
            </a:pPr>
            <a:r>
              <a:rPr lang="ko-KR" altLang="en-US" dirty="0">
                <a:latin typeface="Consolas" panose="020B0609020204030204" pitchFamily="49" charset="0"/>
              </a:rPr>
              <a:t>  The </a:t>
            </a:r>
            <a:r>
              <a:rPr lang="ko-KR" altLang="en-US" dirty="0" err="1">
                <a:latin typeface="Consolas" panose="020B0609020204030204" pitchFamily="49" charset="0"/>
              </a:rPr>
              <a:t>reasoning</a:t>
            </a:r>
            <a:r>
              <a:rPr lang="ko-KR" altLang="en-US" dirty="0">
                <a:latin typeface="Consolas" panose="020B0609020204030204" pitchFamily="49" charset="0"/>
              </a:rPr>
              <a:t> </a:t>
            </a:r>
            <a:r>
              <a:rPr lang="ko-KR" altLang="en-US" dirty="0" err="1">
                <a:latin typeface="Consolas" panose="020B0609020204030204" pitchFamily="49" charset="0"/>
              </a:rPr>
              <a:t>process</a:t>
            </a:r>
            <a:r>
              <a:rPr lang="ko-KR" altLang="en-US" dirty="0">
                <a:latin typeface="Consolas" panose="020B0609020204030204" pitchFamily="49" charset="0"/>
              </a:rPr>
              <a:t> and </a:t>
            </a:r>
            <a:r>
              <a:rPr lang="ko-KR" altLang="en-US" dirty="0" err="1">
                <a:latin typeface="Consolas" panose="020B0609020204030204" pitchFamily="49" charset="0"/>
              </a:rPr>
              <a:t>answer</a:t>
            </a:r>
            <a:r>
              <a:rPr lang="ko-KR" altLang="en-US" dirty="0">
                <a:latin typeface="Consolas" panose="020B0609020204030204" pitchFamily="49" charset="0"/>
              </a:rPr>
              <a:t> </a:t>
            </a:r>
            <a:r>
              <a:rPr lang="ko-KR" altLang="en-US" dirty="0" err="1">
                <a:latin typeface="Consolas" panose="020B0609020204030204" pitchFamily="49" charset="0"/>
              </a:rPr>
              <a:t>are</a:t>
            </a:r>
            <a:r>
              <a:rPr lang="ko-KR" altLang="en-US" dirty="0">
                <a:latin typeface="Consolas" panose="020B0609020204030204" pitchFamily="49" charset="0"/>
              </a:rPr>
              <a:t> </a:t>
            </a:r>
            <a:r>
              <a:rPr lang="ko-KR" altLang="en-US" dirty="0" err="1">
                <a:latin typeface="Consolas" panose="020B0609020204030204" pitchFamily="49" charset="0"/>
              </a:rPr>
              <a:t>enclosed</a:t>
            </a:r>
            <a:r>
              <a:rPr lang="ko-KR" altLang="en-US" dirty="0">
                <a:latin typeface="Consolas" panose="020B0609020204030204" pitchFamily="49" charset="0"/>
              </a:rPr>
              <a:t> </a:t>
            </a:r>
            <a:r>
              <a:rPr lang="ko-KR" altLang="en-US" dirty="0" err="1">
                <a:latin typeface="Consolas" panose="020B0609020204030204" pitchFamily="49" charset="0"/>
              </a:rPr>
              <a:t>within</a:t>
            </a:r>
            <a:r>
              <a:rPr lang="ko-KR" altLang="en-US" dirty="0">
                <a:latin typeface="Consolas" panose="020B0609020204030204" pitchFamily="49" charset="0"/>
              </a:rPr>
              <a:t> </a:t>
            </a:r>
            <a:r>
              <a:rPr lang="ko-KR" altLang="en-US" b="1" dirty="0">
                <a:latin typeface="Consolas" panose="020B0609020204030204" pitchFamily="49" charset="0"/>
              </a:rPr>
              <a:t>&lt;</a:t>
            </a:r>
            <a:r>
              <a:rPr lang="ko-KR" altLang="en-US" b="1" dirty="0" err="1">
                <a:latin typeface="Consolas" panose="020B0609020204030204" pitchFamily="49" charset="0"/>
              </a:rPr>
              <a:t>think</a:t>
            </a:r>
            <a:r>
              <a:rPr lang="ko-KR" altLang="en-US" b="1" dirty="0">
                <a:latin typeface="Consolas" panose="020B0609020204030204" pitchFamily="49" charset="0"/>
              </a:rPr>
              <a:t>&gt; &lt;/</a:t>
            </a:r>
            <a:r>
              <a:rPr lang="ko-KR" altLang="en-US" b="1" dirty="0" err="1">
                <a:latin typeface="Consolas" panose="020B0609020204030204" pitchFamily="49" charset="0"/>
              </a:rPr>
              <a:t>think</a:t>
            </a:r>
            <a:r>
              <a:rPr lang="ko-KR" altLang="en-US" b="1" dirty="0">
                <a:latin typeface="Consolas" panose="020B0609020204030204" pitchFamily="49" charset="0"/>
              </a:rPr>
              <a:t>&gt;</a:t>
            </a:r>
          </a:p>
          <a:p>
            <a:pPr>
              <a:lnSpc>
                <a:spcPct val="150000"/>
              </a:lnSpc>
            </a:pPr>
            <a:r>
              <a:rPr lang="ko-KR" altLang="en-US" dirty="0">
                <a:latin typeface="Consolas" panose="020B0609020204030204" pitchFamily="49" charset="0"/>
              </a:rPr>
              <a:t>  and </a:t>
            </a:r>
            <a:r>
              <a:rPr lang="ko-KR" altLang="en-US" b="1" dirty="0">
                <a:latin typeface="Consolas" panose="020B0609020204030204" pitchFamily="49" charset="0"/>
              </a:rPr>
              <a:t>&lt;</a:t>
            </a:r>
            <a:r>
              <a:rPr lang="ko-KR" altLang="en-US" b="1" dirty="0" err="1">
                <a:latin typeface="Consolas" panose="020B0609020204030204" pitchFamily="49" charset="0"/>
              </a:rPr>
              <a:t>answer</a:t>
            </a:r>
            <a:r>
              <a:rPr lang="ko-KR" altLang="en-US" b="1" dirty="0">
                <a:latin typeface="Consolas" panose="020B0609020204030204" pitchFamily="49" charset="0"/>
              </a:rPr>
              <a:t>&gt; &lt;/</a:t>
            </a:r>
            <a:r>
              <a:rPr lang="ko-KR" altLang="en-US" b="1" dirty="0" err="1">
                <a:latin typeface="Consolas" panose="020B0609020204030204" pitchFamily="49" charset="0"/>
              </a:rPr>
              <a:t>answer</a:t>
            </a:r>
            <a:r>
              <a:rPr lang="ko-KR" altLang="en-US" b="1" dirty="0">
                <a:latin typeface="Consolas" panose="020B0609020204030204" pitchFamily="49" charset="0"/>
              </a:rPr>
              <a:t>&gt; </a:t>
            </a:r>
            <a:r>
              <a:rPr lang="ko-KR" altLang="en-US" dirty="0" err="1">
                <a:latin typeface="Consolas" panose="020B0609020204030204" pitchFamily="49" charset="0"/>
              </a:rPr>
              <a:t>tags</a:t>
            </a:r>
            <a:r>
              <a:rPr lang="ko-KR" altLang="en-US" dirty="0">
                <a:latin typeface="Consolas" panose="020B0609020204030204" pitchFamily="49" charset="0"/>
              </a:rPr>
              <a:t>, </a:t>
            </a:r>
            <a:r>
              <a:rPr lang="ko-KR" altLang="en-US" dirty="0" err="1">
                <a:latin typeface="Consolas" panose="020B0609020204030204" pitchFamily="49" charset="0"/>
              </a:rPr>
              <a:t>respectively</a:t>
            </a:r>
            <a:r>
              <a:rPr lang="ko-KR" altLang="en-US" dirty="0">
                <a:latin typeface="Consolas" panose="020B0609020204030204" pitchFamily="49" charset="0"/>
              </a:rPr>
              <a:t>, </a:t>
            </a:r>
            <a:r>
              <a:rPr lang="ko-KR" altLang="en-US" dirty="0" err="1">
                <a:latin typeface="Consolas" panose="020B0609020204030204" pitchFamily="49" charset="0"/>
              </a:rPr>
              <a:t>i.e</a:t>
            </a:r>
            <a:r>
              <a:rPr lang="ko-KR" altLang="en-US" dirty="0">
                <a:latin typeface="Consolas" panose="020B0609020204030204" pitchFamily="49" charset="0"/>
              </a:rPr>
              <a:t>.,</a:t>
            </a:r>
          </a:p>
          <a:p>
            <a:pPr>
              <a:lnSpc>
                <a:spcPct val="150000"/>
              </a:lnSpc>
            </a:pPr>
            <a:r>
              <a:rPr lang="ko-KR" altLang="en-US" dirty="0">
                <a:latin typeface="Consolas" panose="020B0609020204030204" pitchFamily="49" charset="0"/>
              </a:rPr>
              <a:t>  &lt;</a:t>
            </a:r>
            <a:r>
              <a:rPr lang="ko-KR" altLang="en-US" dirty="0" err="1">
                <a:latin typeface="Consolas" panose="020B0609020204030204" pitchFamily="49" charset="0"/>
              </a:rPr>
              <a:t>think</a:t>
            </a:r>
            <a:r>
              <a:rPr lang="ko-KR" altLang="en-US" dirty="0">
                <a:latin typeface="Consolas" panose="020B0609020204030204" pitchFamily="49" charset="0"/>
              </a:rPr>
              <a:t>&gt; </a:t>
            </a:r>
            <a:r>
              <a:rPr lang="ko-KR" altLang="en-US" dirty="0" err="1">
                <a:latin typeface="Consolas" panose="020B0609020204030204" pitchFamily="49" charset="0"/>
              </a:rPr>
              <a:t>reasoning</a:t>
            </a:r>
            <a:r>
              <a:rPr lang="ko-KR" altLang="en-US" dirty="0">
                <a:latin typeface="Consolas" panose="020B0609020204030204" pitchFamily="49" charset="0"/>
              </a:rPr>
              <a:t> </a:t>
            </a:r>
            <a:r>
              <a:rPr lang="ko-KR" altLang="en-US" dirty="0" err="1">
                <a:latin typeface="Consolas" panose="020B0609020204030204" pitchFamily="49" charset="0"/>
              </a:rPr>
              <a:t>process</a:t>
            </a:r>
            <a:r>
              <a:rPr lang="ko-KR" altLang="en-US" dirty="0">
                <a:latin typeface="Consolas" panose="020B0609020204030204" pitchFamily="49" charset="0"/>
              </a:rPr>
              <a:t> </a:t>
            </a:r>
            <a:r>
              <a:rPr lang="ko-KR" altLang="en-US" dirty="0" err="1">
                <a:latin typeface="Consolas" panose="020B0609020204030204" pitchFamily="49" charset="0"/>
              </a:rPr>
              <a:t>here</a:t>
            </a:r>
            <a:r>
              <a:rPr lang="ko-KR" altLang="en-US" dirty="0">
                <a:latin typeface="Consolas" panose="020B0609020204030204" pitchFamily="49" charset="0"/>
              </a:rPr>
              <a:t> &lt;/</a:t>
            </a:r>
            <a:r>
              <a:rPr lang="ko-KR" altLang="en-US" dirty="0" err="1">
                <a:latin typeface="Consolas" panose="020B0609020204030204" pitchFamily="49" charset="0"/>
              </a:rPr>
              <a:t>think</a:t>
            </a:r>
            <a:r>
              <a:rPr lang="ko-KR" altLang="en-US" dirty="0">
                <a:latin typeface="Consolas" panose="020B0609020204030204" pitchFamily="49" charset="0"/>
              </a:rPr>
              <a:t>&gt;&lt;</a:t>
            </a:r>
            <a:r>
              <a:rPr lang="ko-KR" altLang="en-US" dirty="0" err="1">
                <a:latin typeface="Consolas" panose="020B0609020204030204" pitchFamily="49" charset="0"/>
              </a:rPr>
              <a:t>answer</a:t>
            </a:r>
            <a:r>
              <a:rPr lang="ko-KR" altLang="en-US" dirty="0">
                <a:latin typeface="Consolas" panose="020B0609020204030204" pitchFamily="49" charset="0"/>
              </a:rPr>
              <a:t>&gt; </a:t>
            </a:r>
            <a:r>
              <a:rPr lang="ko-KR" altLang="en-US" dirty="0" err="1">
                <a:latin typeface="Consolas" panose="020B0609020204030204" pitchFamily="49" charset="0"/>
              </a:rPr>
              <a:t>answer</a:t>
            </a:r>
            <a:r>
              <a:rPr lang="ko-KR" altLang="en-US" dirty="0">
                <a:latin typeface="Consolas" panose="020B0609020204030204" pitchFamily="49" charset="0"/>
              </a:rPr>
              <a:t> </a:t>
            </a:r>
            <a:r>
              <a:rPr lang="ko-KR" altLang="en-US" dirty="0" err="1">
                <a:latin typeface="Consolas" panose="020B0609020204030204" pitchFamily="49" charset="0"/>
              </a:rPr>
              <a:t>here</a:t>
            </a:r>
            <a:r>
              <a:rPr lang="ko-KR" altLang="en-US" dirty="0">
                <a:latin typeface="Consolas" panose="020B0609020204030204" pitchFamily="49" charset="0"/>
              </a:rPr>
              <a:t> &lt;/</a:t>
            </a:r>
            <a:r>
              <a:rPr lang="ko-KR" altLang="en-US" dirty="0" err="1">
                <a:latin typeface="Consolas" panose="020B0609020204030204" pitchFamily="49" charset="0"/>
              </a:rPr>
              <a:t>answer</a:t>
            </a:r>
            <a:r>
              <a:rPr lang="ko-KR" altLang="en-US" dirty="0">
                <a:latin typeface="Consolas" panose="020B0609020204030204" pitchFamily="49" charset="0"/>
              </a:rPr>
              <a:t>&gt;</a:t>
            </a:r>
          </a:p>
        </p:txBody>
      </p:sp>
      <p:sp>
        <p:nvSpPr>
          <p:cNvPr id="19" name="TextBox 18">
            <a:extLst>
              <a:ext uri="{FF2B5EF4-FFF2-40B4-BE49-F238E27FC236}">
                <a16:creationId xmlns:a16="http://schemas.microsoft.com/office/drawing/2014/main" id="{D9A3F643-6FEC-40F5-BD57-8C9D01659C1C}"/>
              </a:ext>
            </a:extLst>
          </p:cNvPr>
          <p:cNvSpPr txBox="1"/>
          <p:nvPr/>
        </p:nvSpPr>
        <p:spPr>
          <a:xfrm>
            <a:off x="332739" y="3327618"/>
            <a:ext cx="8414069" cy="1815882"/>
          </a:xfrm>
          <a:prstGeom prst="rect">
            <a:avLst/>
          </a:prstGeom>
          <a:noFill/>
        </p:spPr>
        <p:txBody>
          <a:bodyPr wrap="square">
            <a:spAutoFit/>
          </a:bodyPr>
          <a:lstStyle/>
          <a:p>
            <a:r>
              <a:rPr lang="en-US" altLang="ko-KR" sz="1600" b="0" i="0" dirty="0">
                <a:effectLst/>
                <a:latin typeface="+mn-lt"/>
              </a:rPr>
              <a:t>The system message </a:t>
            </a:r>
            <a:r>
              <a:rPr lang="en-US" altLang="ko-KR" sz="1600" b="1" i="0" dirty="0">
                <a:effectLst/>
                <a:latin typeface="+mn-lt"/>
              </a:rPr>
              <a:t>formats the model’s reasoning process </a:t>
            </a:r>
            <a:r>
              <a:rPr lang="en-US" altLang="ko-KR" sz="1600" b="0" i="0" dirty="0">
                <a:effectLst/>
                <a:latin typeface="+mn-lt"/>
              </a:rPr>
              <a:t>so that the data can be augmented into the desired form.</a:t>
            </a:r>
          </a:p>
          <a:p>
            <a:endParaRPr lang="en-US" altLang="ko-KR" sz="1600" dirty="0">
              <a:latin typeface="+mn-lt"/>
            </a:endParaRPr>
          </a:p>
          <a:p>
            <a:r>
              <a:rPr lang="en-US" altLang="ko-KR" sz="1600" dirty="0">
                <a:effectLst/>
                <a:latin typeface="+mn-lt"/>
              </a:rPr>
              <a:t>The </a:t>
            </a:r>
            <a:r>
              <a:rPr lang="en-US" altLang="ko-KR" sz="1600" b="1" dirty="0">
                <a:effectLst/>
                <a:latin typeface="+mn-lt"/>
              </a:rPr>
              <a:t>&lt;think&gt; tag </a:t>
            </a:r>
            <a:r>
              <a:rPr lang="en-US" altLang="ko-KR" sz="1600" dirty="0">
                <a:effectLst/>
                <a:latin typeface="+mn-lt"/>
              </a:rPr>
              <a:t>becomes the reasoning process, that is, the chain-of-thought (</a:t>
            </a:r>
            <a:r>
              <a:rPr lang="en-US" altLang="ko-KR" sz="1600" dirty="0" err="1">
                <a:effectLst/>
                <a:latin typeface="+mn-lt"/>
              </a:rPr>
              <a:t>CoT</a:t>
            </a:r>
            <a:r>
              <a:rPr lang="en-US" altLang="ko-KR" sz="1600" dirty="0">
                <a:effectLst/>
                <a:latin typeface="+mn-lt"/>
              </a:rPr>
              <a:t>) label, and the </a:t>
            </a:r>
            <a:r>
              <a:rPr lang="en-US" altLang="ko-KR" sz="1600" b="1" dirty="0">
                <a:effectLst/>
                <a:latin typeface="+mn-lt"/>
              </a:rPr>
              <a:t>&lt;answer&gt; tag</a:t>
            </a:r>
            <a:r>
              <a:rPr lang="en-US" altLang="ko-KR" sz="1600" dirty="0">
                <a:effectLst/>
                <a:latin typeface="+mn-lt"/>
              </a:rPr>
              <a:t> represents spatial information such as direction and bounding boxes</a:t>
            </a:r>
            <a:endParaRPr lang="en-US" altLang="ko-KR" sz="1600" b="0" i="0" dirty="0">
              <a:effectLst/>
              <a:latin typeface="+mn-lt"/>
            </a:endParaRPr>
          </a:p>
          <a:p>
            <a:endParaRPr lang="en-US" altLang="ko-KR" sz="1600" dirty="0">
              <a:latin typeface="fkGroteskNeue"/>
            </a:endParaRPr>
          </a:p>
          <a:p>
            <a:endParaRPr lang="ko-KR" altLang="en-US" sz="1600" dirty="0"/>
          </a:p>
        </p:txBody>
      </p:sp>
    </p:spTree>
    <p:extLst>
      <p:ext uri="{BB962C8B-B14F-4D97-AF65-F5344CB8AC3E}">
        <p14:creationId xmlns:p14="http://schemas.microsoft.com/office/powerpoint/2010/main" val="1460223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B179770A-D1AC-4E7C-8593-D4D987F3E0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ko" smtClean="0"/>
              <a:t>14</a:t>
            </a:fld>
            <a:endParaRPr lang="ko" altLang="en-US"/>
          </a:p>
        </p:txBody>
      </p:sp>
      <p:sp>
        <p:nvSpPr>
          <p:cNvPr id="5" name="Google Shape;150;p21">
            <a:extLst>
              <a:ext uri="{FF2B5EF4-FFF2-40B4-BE49-F238E27FC236}">
                <a16:creationId xmlns:a16="http://schemas.microsoft.com/office/drawing/2014/main" id="{CCB34593-890F-41BE-9219-EDFCFF553F81}"/>
              </a:ext>
            </a:extLst>
          </p:cNvPr>
          <p:cNvSpPr txBox="1">
            <a:spLocks noGrp="1"/>
          </p:cNvSpPr>
          <p:nvPr>
            <p:ph type="title"/>
          </p:nvPr>
        </p:nvSpPr>
        <p:spPr>
          <a:xfrm>
            <a:off x="0" y="-5579"/>
            <a:ext cx="8520600" cy="572700"/>
          </a:xfrm>
          <a:prstGeom prst="rect">
            <a:avLst/>
          </a:prstGeom>
        </p:spPr>
        <p:txBody>
          <a:bodyPr spcFirstLastPara="1" wrap="square" lIns="91425" tIns="91425" rIns="91425" bIns="91425" anchor="t" anchorCtr="0">
            <a:normAutofit fontScale="90000"/>
          </a:bodyPr>
          <a:lstStyle/>
          <a:p>
            <a:pPr marL="0" lvl="0" indent="0" rtl="0">
              <a:lnSpc>
                <a:spcPct val="115000"/>
              </a:lnSpc>
              <a:spcBef>
                <a:spcPts val="0"/>
              </a:spcBef>
              <a:spcAft>
                <a:spcPts val="0"/>
              </a:spcAft>
              <a:buNone/>
            </a:pPr>
            <a:r>
              <a:rPr lang="en-US" altLang="ko" dirty="0"/>
              <a:t>S</a:t>
            </a:r>
            <a:r>
              <a:rPr lang="en-US" altLang="ko" sz="2800" dirty="0">
                <a:solidFill>
                  <a:schemeClr val="dk1"/>
                </a:solidFill>
              </a:rPr>
              <a:t>patial information editing </a:t>
            </a:r>
            <a:r>
              <a:rPr lang="en-US" altLang="ko-KR" sz="2800" dirty="0"/>
              <a:t>(</a:t>
            </a:r>
            <a:r>
              <a:rPr lang="en-US" altLang="ko-KR" sz="2800" dirty="0">
                <a:effectLst/>
              </a:rPr>
              <a:t>MVGen-96k</a:t>
            </a:r>
            <a:r>
              <a:rPr lang="en-US" altLang="ko-KR" sz="2800" dirty="0"/>
              <a:t>)</a:t>
            </a:r>
            <a:endParaRPr lang="en-US" altLang="ko-KR" sz="2800" dirty="0">
              <a:solidFill>
                <a:schemeClr val="dk1"/>
              </a:solidFill>
            </a:endParaRPr>
          </a:p>
        </p:txBody>
      </p:sp>
      <p:sp>
        <p:nvSpPr>
          <p:cNvPr id="7" name="TextBox 6">
            <a:extLst>
              <a:ext uri="{FF2B5EF4-FFF2-40B4-BE49-F238E27FC236}">
                <a16:creationId xmlns:a16="http://schemas.microsoft.com/office/drawing/2014/main" id="{5688DABF-A152-43CC-8A30-7B6E6374AF72}"/>
              </a:ext>
            </a:extLst>
          </p:cNvPr>
          <p:cNvSpPr txBox="1"/>
          <p:nvPr/>
        </p:nvSpPr>
        <p:spPr>
          <a:xfrm>
            <a:off x="2260600" y="895139"/>
            <a:ext cx="4622800" cy="3108543"/>
          </a:xfrm>
          <a:prstGeom prst="rect">
            <a:avLst/>
          </a:prstGeom>
          <a:noFill/>
        </p:spPr>
        <p:txBody>
          <a:bodyPr wrap="square">
            <a:spAutoFit/>
          </a:bodyPr>
          <a:lstStyle/>
          <a:p>
            <a:r>
              <a:rPr lang="ko-KR" altLang="en-US" dirty="0">
                <a:latin typeface="Consolas" panose="020B0609020204030204" pitchFamily="49" charset="0"/>
              </a:rPr>
              <a:t> [USER MESSAGE]</a:t>
            </a:r>
            <a:endParaRPr lang="en-US" altLang="ko-KR" dirty="0">
              <a:latin typeface="Consolas" panose="020B0609020204030204" pitchFamily="49" charset="0"/>
            </a:endParaRPr>
          </a:p>
          <a:p>
            <a:endParaRPr lang="ko-KR" altLang="en-US" dirty="0">
              <a:latin typeface="Consolas" panose="020B0609020204030204" pitchFamily="49" charset="0"/>
            </a:endParaRPr>
          </a:p>
          <a:p>
            <a:r>
              <a:rPr lang="ko-KR" altLang="en-US" dirty="0">
                <a:latin typeface="Consolas" panose="020B0609020204030204" pitchFamily="49" charset="0"/>
              </a:rPr>
              <a:t>  &lt;</a:t>
            </a:r>
            <a:r>
              <a:rPr lang="ko-KR" altLang="en-US" dirty="0" err="1">
                <a:latin typeface="Consolas" panose="020B0609020204030204" pitchFamily="49" charset="0"/>
              </a:rPr>
              <a:t>image</a:t>
            </a:r>
            <a:r>
              <a:rPr lang="ko-KR" altLang="en-US" dirty="0">
                <a:latin typeface="Consolas" panose="020B0609020204030204" pitchFamily="49" charset="0"/>
              </a:rPr>
              <a:t>&gt;</a:t>
            </a:r>
          </a:p>
          <a:p>
            <a:r>
              <a:rPr lang="ko-KR" altLang="en-US" dirty="0">
                <a:latin typeface="Consolas" panose="020B0609020204030204" pitchFamily="49" charset="0"/>
              </a:rPr>
              <a:t>  </a:t>
            </a:r>
            <a:r>
              <a:rPr lang="ko-KR" altLang="en-US" dirty="0" err="1">
                <a:latin typeface="Consolas" panose="020B0609020204030204" pitchFamily="49" charset="0"/>
              </a:rPr>
              <a:t>Question</a:t>
            </a:r>
            <a:r>
              <a:rPr lang="ko-KR" altLang="en-US" dirty="0">
                <a:latin typeface="Consolas" panose="020B0609020204030204" pitchFamily="49" charset="0"/>
              </a:rPr>
              <a:t>: </a:t>
            </a:r>
            <a:r>
              <a:rPr lang="ko-KR" altLang="en-US" dirty="0" err="1">
                <a:latin typeface="Consolas" panose="020B0609020204030204" pitchFamily="49" charset="0"/>
              </a:rPr>
              <a:t>Consider</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real-world</a:t>
            </a:r>
            <a:r>
              <a:rPr lang="ko-KR" altLang="en-US" dirty="0">
                <a:latin typeface="Consolas" panose="020B0609020204030204" pitchFamily="49" charset="0"/>
              </a:rPr>
              <a:t> 3D </a:t>
            </a:r>
            <a:r>
              <a:rPr lang="ko-KR" altLang="en-US" dirty="0" err="1">
                <a:latin typeface="Consolas" panose="020B0609020204030204" pitchFamily="49" charset="0"/>
              </a:rPr>
              <a:t>locations</a:t>
            </a:r>
            <a:r>
              <a:rPr lang="ko-KR" altLang="en-US" dirty="0">
                <a:latin typeface="Consolas" panose="020B0609020204030204" pitchFamily="49" charset="0"/>
              </a:rPr>
              <a:t> and </a:t>
            </a:r>
            <a:r>
              <a:rPr lang="ko-KR" altLang="en-US" dirty="0" err="1">
                <a:latin typeface="Consolas" panose="020B0609020204030204" pitchFamily="49" charset="0"/>
              </a:rPr>
              <a:t>orientations</a:t>
            </a:r>
            <a:r>
              <a:rPr lang="ko-KR" altLang="en-US" dirty="0">
                <a:latin typeface="Consolas" panose="020B0609020204030204" pitchFamily="49" charset="0"/>
              </a:rPr>
              <a:t> of</a:t>
            </a:r>
          </a:p>
          <a:p>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objects</a:t>
            </a:r>
            <a:r>
              <a:rPr lang="ko-KR" altLang="en-US" dirty="0">
                <a:latin typeface="Consolas" panose="020B0609020204030204" pitchFamily="49" charset="0"/>
              </a:rPr>
              <a:t>. </a:t>
            </a:r>
            <a:r>
              <a:rPr lang="ko-KR" altLang="en-US" dirty="0" err="1">
                <a:latin typeface="Consolas" panose="020B0609020204030204" pitchFamily="49" charset="0"/>
              </a:rPr>
              <a:t>Which</a:t>
            </a:r>
            <a:r>
              <a:rPr lang="ko-KR" altLang="en-US" dirty="0">
                <a:latin typeface="Consolas" panose="020B0609020204030204" pitchFamily="49" charset="0"/>
              </a:rPr>
              <a:t> </a:t>
            </a:r>
            <a:r>
              <a:rPr lang="ko-KR" altLang="en-US" dirty="0" err="1">
                <a:latin typeface="Consolas" panose="020B0609020204030204" pitchFamily="49" charset="0"/>
              </a:rPr>
              <a:t>side</a:t>
            </a:r>
            <a:r>
              <a:rPr lang="ko-KR" altLang="en-US" dirty="0">
                <a:latin typeface="Consolas" panose="020B0609020204030204" pitchFamily="49" charset="0"/>
              </a:rPr>
              <a:t> of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child</a:t>
            </a:r>
            <a:r>
              <a:rPr lang="ko-KR" altLang="en-US" dirty="0">
                <a:latin typeface="Consolas" panose="020B0609020204030204" pitchFamily="49" charset="0"/>
              </a:rPr>
              <a:t> </a:t>
            </a:r>
            <a:r>
              <a:rPr lang="ko-KR" altLang="en-US" dirty="0" err="1">
                <a:latin typeface="Consolas" panose="020B0609020204030204" pitchFamily="49" charset="0"/>
              </a:rPr>
              <a:t>is</a:t>
            </a:r>
            <a:r>
              <a:rPr lang="ko-KR" altLang="en-US" dirty="0">
                <a:latin typeface="Consolas" panose="020B0609020204030204" pitchFamily="49" charset="0"/>
              </a:rPr>
              <a:t> </a:t>
            </a:r>
            <a:r>
              <a:rPr lang="ko-KR" altLang="en-US" dirty="0" err="1">
                <a:latin typeface="Consolas" panose="020B0609020204030204" pitchFamily="49" charset="0"/>
              </a:rPr>
              <a:t>facing</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camera</a:t>
            </a:r>
            <a:r>
              <a:rPr lang="ko-KR" altLang="en-US" dirty="0">
                <a:latin typeface="Consolas" panose="020B0609020204030204" pitchFamily="49" charset="0"/>
              </a:rPr>
              <a:t>?</a:t>
            </a:r>
          </a:p>
          <a:p>
            <a:r>
              <a:rPr lang="ko-KR" altLang="en-US" dirty="0">
                <a:latin typeface="Consolas" panose="020B0609020204030204" pitchFamily="49" charset="0"/>
              </a:rPr>
              <a:t>  </a:t>
            </a:r>
            <a:r>
              <a:rPr lang="ko-KR" altLang="en-US" dirty="0" err="1">
                <a:latin typeface="Consolas" panose="020B0609020204030204" pitchFamily="49" charset="0"/>
              </a:rPr>
              <a:t>Options</a:t>
            </a:r>
            <a:r>
              <a:rPr lang="ko-KR" altLang="en-US" dirty="0">
                <a:latin typeface="Consolas" panose="020B0609020204030204" pitchFamily="49" charset="0"/>
              </a:rPr>
              <a:t>:</a:t>
            </a:r>
          </a:p>
          <a:p>
            <a:r>
              <a:rPr lang="ko-KR" altLang="en-US" dirty="0">
                <a:latin typeface="Consolas" panose="020B0609020204030204" pitchFamily="49" charset="0"/>
              </a:rPr>
              <a:t>  </a:t>
            </a:r>
            <a:r>
              <a:rPr lang="ko-KR" altLang="en-US" dirty="0" err="1">
                <a:latin typeface="Consolas" panose="020B0609020204030204" pitchFamily="49" charset="0"/>
              </a:rPr>
              <a:t>A</a:t>
            </a:r>
            <a:r>
              <a:rPr lang="ko-KR" altLang="en-US" dirty="0">
                <a:latin typeface="Consolas" panose="020B0609020204030204" pitchFamily="49" charset="0"/>
              </a:rPr>
              <a:t>. </a:t>
            </a:r>
            <a:r>
              <a:rPr lang="ko-KR" altLang="en-US" dirty="0" err="1">
                <a:latin typeface="Consolas" panose="020B0609020204030204" pitchFamily="49" charset="0"/>
              </a:rPr>
              <a:t>front</a:t>
            </a:r>
            <a:endParaRPr lang="ko-KR" altLang="en-US" dirty="0">
              <a:latin typeface="Consolas" panose="020B0609020204030204" pitchFamily="49" charset="0"/>
            </a:endParaRPr>
          </a:p>
          <a:p>
            <a:r>
              <a:rPr lang="ko-KR" altLang="en-US" dirty="0">
                <a:latin typeface="Consolas" panose="020B0609020204030204" pitchFamily="49" charset="0"/>
              </a:rPr>
              <a:t>  </a:t>
            </a:r>
            <a:r>
              <a:rPr lang="ko-KR" altLang="en-US" dirty="0" err="1">
                <a:latin typeface="Consolas" panose="020B0609020204030204" pitchFamily="49" charset="0"/>
              </a:rPr>
              <a:t>B</a:t>
            </a:r>
            <a:r>
              <a:rPr lang="ko-KR" altLang="en-US" dirty="0">
                <a:latin typeface="Consolas" panose="020B0609020204030204" pitchFamily="49" charset="0"/>
              </a:rPr>
              <a:t>. </a:t>
            </a:r>
            <a:r>
              <a:rPr lang="ko-KR" altLang="en-US" dirty="0" err="1">
                <a:latin typeface="Consolas" panose="020B0609020204030204" pitchFamily="49" charset="0"/>
              </a:rPr>
              <a:t>back</a:t>
            </a:r>
            <a:endParaRPr lang="ko-KR" altLang="en-US" dirty="0">
              <a:latin typeface="Consolas" panose="020B0609020204030204" pitchFamily="49" charset="0"/>
            </a:endParaRPr>
          </a:p>
          <a:p>
            <a:r>
              <a:rPr lang="ko-KR" altLang="en-US" dirty="0">
                <a:latin typeface="Consolas" panose="020B0609020204030204" pitchFamily="49" charset="0"/>
              </a:rPr>
              <a:t>  C. </a:t>
            </a:r>
            <a:r>
              <a:rPr lang="ko-KR" altLang="en-US" dirty="0" err="1">
                <a:latin typeface="Consolas" panose="020B0609020204030204" pitchFamily="49" charset="0"/>
              </a:rPr>
              <a:t>left</a:t>
            </a:r>
            <a:endParaRPr lang="ko-KR" altLang="en-US" dirty="0">
              <a:latin typeface="Consolas" panose="020B0609020204030204" pitchFamily="49" charset="0"/>
            </a:endParaRPr>
          </a:p>
          <a:p>
            <a:r>
              <a:rPr lang="ko-KR" altLang="en-US" dirty="0">
                <a:latin typeface="Consolas" panose="020B0609020204030204" pitchFamily="49" charset="0"/>
              </a:rPr>
              <a:t>  </a:t>
            </a:r>
            <a:r>
              <a:rPr lang="ko-KR" altLang="en-US" dirty="0" err="1">
                <a:latin typeface="Consolas" panose="020B0609020204030204" pitchFamily="49" charset="0"/>
              </a:rPr>
              <a:t>D</a:t>
            </a:r>
            <a:r>
              <a:rPr lang="ko-KR" altLang="en-US" dirty="0">
                <a:latin typeface="Consolas" panose="020B0609020204030204" pitchFamily="49" charset="0"/>
              </a:rPr>
              <a:t>. </a:t>
            </a:r>
            <a:r>
              <a:rPr lang="ko-KR" altLang="en-US" dirty="0" err="1">
                <a:latin typeface="Consolas" panose="020B0609020204030204" pitchFamily="49" charset="0"/>
              </a:rPr>
              <a:t>right</a:t>
            </a:r>
            <a:endParaRPr lang="ko-KR" altLang="en-US" dirty="0">
              <a:latin typeface="Consolas" panose="020B0609020204030204" pitchFamily="49" charset="0"/>
            </a:endParaRPr>
          </a:p>
          <a:p>
            <a:r>
              <a:rPr lang="ko-KR" altLang="en-US" dirty="0">
                <a:latin typeface="Consolas" panose="020B0609020204030204" pitchFamily="49" charset="0"/>
              </a:rPr>
              <a:t>  </a:t>
            </a:r>
            <a:r>
              <a:rPr lang="ko-KR" altLang="en-US" dirty="0" err="1">
                <a:latin typeface="Consolas" panose="020B0609020204030204" pitchFamily="49" charset="0"/>
              </a:rPr>
              <a:t>Please</a:t>
            </a:r>
            <a:r>
              <a:rPr lang="ko-KR" altLang="en-US" dirty="0">
                <a:latin typeface="Consolas" panose="020B0609020204030204" pitchFamily="49" charset="0"/>
              </a:rPr>
              <a:t> </a:t>
            </a:r>
            <a:r>
              <a:rPr lang="ko-KR" altLang="en-US" dirty="0" err="1">
                <a:latin typeface="Consolas" panose="020B0609020204030204" pitchFamily="49" charset="0"/>
              </a:rPr>
              <a:t>select</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correct</a:t>
            </a:r>
            <a:r>
              <a:rPr lang="ko-KR" altLang="en-US" dirty="0">
                <a:latin typeface="Consolas" panose="020B0609020204030204" pitchFamily="49" charset="0"/>
              </a:rPr>
              <a:t> </a:t>
            </a:r>
            <a:r>
              <a:rPr lang="ko-KR" altLang="en-US" dirty="0" err="1">
                <a:latin typeface="Consolas" panose="020B0609020204030204" pitchFamily="49" charset="0"/>
              </a:rPr>
              <a:t>answer</a:t>
            </a:r>
            <a:r>
              <a:rPr lang="ko-KR" altLang="en-US" dirty="0">
                <a:latin typeface="Consolas" panose="020B0609020204030204" pitchFamily="49" charset="0"/>
              </a:rPr>
              <a:t> </a:t>
            </a:r>
            <a:r>
              <a:rPr lang="ko-KR" altLang="en-US" dirty="0" err="1">
                <a:latin typeface="Consolas" panose="020B0609020204030204" pitchFamily="49" charset="0"/>
              </a:rPr>
              <a:t>from</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options</a:t>
            </a:r>
            <a:r>
              <a:rPr lang="ko-KR" altLang="en-US" dirty="0">
                <a:latin typeface="Consolas" panose="020B0609020204030204" pitchFamily="49" charset="0"/>
              </a:rPr>
              <a:t> </a:t>
            </a:r>
            <a:r>
              <a:rPr lang="ko-KR" altLang="en-US" dirty="0" err="1">
                <a:latin typeface="Consolas" panose="020B0609020204030204" pitchFamily="49" charset="0"/>
              </a:rPr>
              <a:t>above</a:t>
            </a:r>
            <a:r>
              <a:rPr lang="ko-KR" altLang="en-US" dirty="0">
                <a:latin typeface="Consolas" panose="020B0609020204030204" pitchFamily="49" charset="0"/>
              </a:rPr>
              <a:t>.</a:t>
            </a:r>
          </a:p>
        </p:txBody>
      </p:sp>
      <p:sp>
        <p:nvSpPr>
          <p:cNvPr id="9" name="TextBox 8">
            <a:extLst>
              <a:ext uri="{FF2B5EF4-FFF2-40B4-BE49-F238E27FC236}">
                <a16:creationId xmlns:a16="http://schemas.microsoft.com/office/drawing/2014/main" id="{C0BBA3DF-F125-498C-8019-D69D6512934E}"/>
              </a:ext>
            </a:extLst>
          </p:cNvPr>
          <p:cNvSpPr txBox="1"/>
          <p:nvPr/>
        </p:nvSpPr>
        <p:spPr>
          <a:xfrm>
            <a:off x="359165" y="4370829"/>
            <a:ext cx="8425669" cy="584775"/>
          </a:xfrm>
          <a:prstGeom prst="rect">
            <a:avLst/>
          </a:prstGeom>
          <a:noFill/>
        </p:spPr>
        <p:txBody>
          <a:bodyPr wrap="square">
            <a:spAutoFit/>
          </a:bodyPr>
          <a:lstStyle/>
          <a:p>
            <a:r>
              <a:rPr lang="en-US" altLang="ko-KR" sz="1600" b="0" i="0" dirty="0">
                <a:effectLst/>
                <a:latin typeface="+mj-lt"/>
              </a:rPr>
              <a:t>We feed the original dataset together with the camera poses of our augmented novel views, and then use them as </a:t>
            </a:r>
            <a:r>
              <a:rPr lang="en-US" altLang="ko-KR" sz="1600" b="1" i="0" dirty="0">
                <a:effectLst/>
                <a:latin typeface="+mj-lt"/>
              </a:rPr>
              <a:t>inputs to run inference with the model</a:t>
            </a:r>
            <a:r>
              <a:rPr lang="en-US" altLang="ko-KR" sz="1600" b="0" i="0" dirty="0">
                <a:effectLst/>
                <a:latin typeface="+mj-lt"/>
              </a:rPr>
              <a:t>.</a:t>
            </a:r>
            <a:endParaRPr lang="ko-KR" altLang="en-US" sz="1600" dirty="0">
              <a:latin typeface="+mj-lt"/>
            </a:endParaRPr>
          </a:p>
        </p:txBody>
      </p:sp>
    </p:spTree>
    <p:extLst>
      <p:ext uri="{BB962C8B-B14F-4D97-AF65-F5344CB8AC3E}">
        <p14:creationId xmlns:p14="http://schemas.microsoft.com/office/powerpoint/2010/main" val="2729170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A9EF654A-4463-40FF-8CF5-D8A51B7BA7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ko" smtClean="0"/>
              <a:t>15</a:t>
            </a:fld>
            <a:endParaRPr lang="ko" altLang="en-US"/>
          </a:p>
        </p:txBody>
      </p:sp>
      <p:sp>
        <p:nvSpPr>
          <p:cNvPr id="5" name="Google Shape;150;p21">
            <a:extLst>
              <a:ext uri="{FF2B5EF4-FFF2-40B4-BE49-F238E27FC236}">
                <a16:creationId xmlns:a16="http://schemas.microsoft.com/office/drawing/2014/main" id="{F6DD9705-5422-43B8-A79B-276510883B83}"/>
              </a:ext>
            </a:extLst>
          </p:cNvPr>
          <p:cNvSpPr txBox="1">
            <a:spLocks noGrp="1"/>
          </p:cNvSpPr>
          <p:nvPr>
            <p:ph type="title"/>
          </p:nvPr>
        </p:nvSpPr>
        <p:spPr>
          <a:xfrm>
            <a:off x="0" y="-5579"/>
            <a:ext cx="8520600" cy="572700"/>
          </a:xfrm>
          <a:prstGeom prst="rect">
            <a:avLst/>
          </a:prstGeom>
        </p:spPr>
        <p:txBody>
          <a:bodyPr spcFirstLastPara="1" wrap="square" lIns="91425" tIns="91425" rIns="91425" bIns="91425" anchor="t" anchorCtr="0">
            <a:normAutofit fontScale="90000"/>
          </a:bodyPr>
          <a:lstStyle/>
          <a:p>
            <a:pPr marL="0" lvl="0" indent="0" rtl="0">
              <a:lnSpc>
                <a:spcPct val="115000"/>
              </a:lnSpc>
              <a:spcBef>
                <a:spcPts val="0"/>
              </a:spcBef>
              <a:spcAft>
                <a:spcPts val="0"/>
              </a:spcAft>
              <a:buNone/>
            </a:pPr>
            <a:r>
              <a:rPr lang="en-US" altLang="ko" dirty="0"/>
              <a:t>S</a:t>
            </a:r>
            <a:r>
              <a:rPr lang="en-US" altLang="ko" sz="2800" dirty="0">
                <a:solidFill>
                  <a:schemeClr val="dk1"/>
                </a:solidFill>
              </a:rPr>
              <a:t>patial information editing </a:t>
            </a:r>
            <a:r>
              <a:rPr lang="en-US" altLang="ko-KR" sz="2800" dirty="0"/>
              <a:t>(</a:t>
            </a:r>
            <a:r>
              <a:rPr lang="en-US" altLang="ko-KR" sz="2800" dirty="0">
                <a:effectLst/>
              </a:rPr>
              <a:t>MVGen-96k</a:t>
            </a:r>
            <a:r>
              <a:rPr lang="en-US" altLang="ko-KR" sz="2800" dirty="0"/>
              <a:t>)</a:t>
            </a:r>
            <a:endParaRPr lang="en-US" altLang="ko-KR" sz="2800" dirty="0">
              <a:solidFill>
                <a:schemeClr val="dk1"/>
              </a:solidFill>
            </a:endParaRPr>
          </a:p>
        </p:txBody>
      </p:sp>
      <p:sp>
        <p:nvSpPr>
          <p:cNvPr id="7" name="TextBox 6">
            <a:extLst>
              <a:ext uri="{FF2B5EF4-FFF2-40B4-BE49-F238E27FC236}">
                <a16:creationId xmlns:a16="http://schemas.microsoft.com/office/drawing/2014/main" id="{E82D4BF8-806E-428C-B518-02CBBD6BC685}"/>
              </a:ext>
            </a:extLst>
          </p:cNvPr>
          <p:cNvSpPr txBox="1"/>
          <p:nvPr/>
        </p:nvSpPr>
        <p:spPr>
          <a:xfrm>
            <a:off x="134100" y="785515"/>
            <a:ext cx="8386500" cy="3216265"/>
          </a:xfrm>
          <a:prstGeom prst="rect">
            <a:avLst/>
          </a:prstGeom>
          <a:noFill/>
        </p:spPr>
        <p:txBody>
          <a:bodyPr wrap="square">
            <a:spAutoFit/>
          </a:bodyPr>
          <a:lstStyle/>
          <a:p>
            <a:r>
              <a:rPr lang="ko-KR" altLang="en-US" dirty="0">
                <a:latin typeface="Consolas" panose="020B0609020204030204" pitchFamily="49" charset="0"/>
              </a:rPr>
              <a:t>  [ASSISTANT MESSAGE]</a:t>
            </a:r>
            <a:endParaRPr lang="en-US" altLang="ko-KR" dirty="0">
              <a:latin typeface="Consolas" panose="020B0609020204030204" pitchFamily="49" charset="0"/>
            </a:endParaRPr>
          </a:p>
          <a:p>
            <a:endParaRPr lang="ko-KR" altLang="en-US" dirty="0">
              <a:latin typeface="Consolas" panose="020B0609020204030204" pitchFamily="49" charset="0"/>
            </a:endParaRPr>
          </a:p>
          <a:p>
            <a:pPr>
              <a:lnSpc>
                <a:spcPct val="150000"/>
              </a:lnSpc>
            </a:pPr>
            <a:r>
              <a:rPr lang="ko-KR" altLang="en-US" dirty="0">
                <a:latin typeface="Consolas" panose="020B0609020204030204" pitchFamily="49" charset="0"/>
              </a:rPr>
              <a:t>  &lt;</a:t>
            </a:r>
            <a:r>
              <a:rPr lang="ko-KR" altLang="en-US" dirty="0" err="1">
                <a:latin typeface="Consolas" panose="020B0609020204030204" pitchFamily="49" charset="0"/>
              </a:rPr>
              <a:t>think</a:t>
            </a:r>
            <a:r>
              <a:rPr lang="ko-KR" altLang="en-US" dirty="0">
                <a:latin typeface="Consolas" panose="020B0609020204030204" pitchFamily="49" charset="0"/>
              </a:rPr>
              <a:t>&gt;The </a:t>
            </a:r>
            <a:r>
              <a:rPr lang="ko-KR" altLang="en-US" dirty="0" err="1">
                <a:latin typeface="Consolas" panose="020B0609020204030204" pitchFamily="49" charset="0"/>
              </a:rPr>
              <a:t>location</a:t>
            </a:r>
            <a:r>
              <a:rPr lang="ko-KR" altLang="en-US" dirty="0">
                <a:latin typeface="Consolas" panose="020B0609020204030204" pitchFamily="49" charset="0"/>
              </a:rPr>
              <a:t> of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child</a:t>
            </a:r>
            <a:r>
              <a:rPr lang="ko-KR" altLang="en-US" dirty="0">
                <a:latin typeface="Consolas" panose="020B0609020204030204" pitchFamily="49" charset="0"/>
              </a:rPr>
              <a:t> </a:t>
            </a:r>
            <a:r>
              <a:rPr lang="ko-KR" altLang="en-US" dirty="0" err="1">
                <a:latin typeface="Consolas" panose="020B0609020204030204" pitchFamily="49" charset="0"/>
              </a:rPr>
              <a:t>is</a:t>
            </a:r>
            <a:r>
              <a:rPr lang="ko-KR" altLang="en-US" dirty="0">
                <a:latin typeface="Consolas" panose="020B0609020204030204" pitchFamily="49" charset="0"/>
              </a:rPr>
              <a:t> </a:t>
            </a:r>
            <a:r>
              <a:rPr lang="en-US" altLang="ko-KR" b="1" dirty="0">
                <a:latin typeface="Consolas" panose="020B0609020204030204" pitchFamily="49" charset="0"/>
              </a:rPr>
              <a:t>&lt;</a:t>
            </a:r>
            <a:r>
              <a:rPr lang="en-US" altLang="ko-KR" b="1" dirty="0" err="1">
                <a:latin typeface="Consolas" panose="020B0609020204030204" pitchFamily="49" charset="0"/>
              </a:rPr>
              <a:t>bounding_box</a:t>
            </a:r>
            <a:r>
              <a:rPr lang="en-US" altLang="ko-KR" b="1" dirty="0">
                <a:latin typeface="Consolas" panose="020B0609020204030204" pitchFamily="49" charset="0"/>
              </a:rPr>
              <a:t>&gt;.</a:t>
            </a:r>
            <a:r>
              <a:rPr lang="ko-KR" altLang="en-US" dirty="0">
                <a:latin typeface="Consolas" panose="020B0609020204030204" pitchFamily="49" charset="0"/>
              </a:rPr>
              <a:t>The </a:t>
            </a:r>
            <a:r>
              <a:rPr lang="ko-KR" altLang="en-US" dirty="0" err="1">
                <a:latin typeface="Consolas" panose="020B0609020204030204" pitchFamily="49" charset="0"/>
              </a:rPr>
              <a:t>vector</a:t>
            </a:r>
            <a:endParaRPr lang="ko-KR" altLang="en-US" dirty="0">
              <a:latin typeface="Consolas" panose="020B0609020204030204" pitchFamily="49" charset="0"/>
            </a:endParaRPr>
          </a:p>
          <a:p>
            <a:pPr>
              <a:lnSpc>
                <a:spcPct val="150000"/>
              </a:lnSpc>
            </a:pPr>
            <a:r>
              <a:rPr lang="ko-KR" altLang="en-US" dirty="0">
                <a:latin typeface="Consolas" panose="020B0609020204030204" pitchFamily="49" charset="0"/>
              </a:rPr>
              <a:t>  </a:t>
            </a:r>
            <a:r>
              <a:rPr lang="ko-KR" altLang="en-US" dirty="0" err="1">
                <a:latin typeface="Consolas" panose="020B0609020204030204" pitchFamily="49" charset="0"/>
              </a:rPr>
              <a:t>from</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child</a:t>
            </a:r>
            <a:r>
              <a:rPr lang="ko-KR" altLang="en-US" dirty="0">
                <a:latin typeface="Consolas" panose="020B0609020204030204" pitchFamily="49" charset="0"/>
              </a:rPr>
              <a:t> </a:t>
            </a:r>
            <a:r>
              <a:rPr lang="ko-KR" altLang="en-US" dirty="0" err="1">
                <a:latin typeface="Consolas" panose="020B0609020204030204" pitchFamily="49" charset="0"/>
              </a:rPr>
              <a:t>to</a:t>
            </a:r>
            <a:r>
              <a:rPr lang="ko-KR" altLang="en-US" dirty="0">
                <a:latin typeface="Consolas" panose="020B0609020204030204" pitchFamily="49" charset="0"/>
              </a:rPr>
              <a:t> </a:t>
            </a:r>
            <a:r>
              <a:rPr lang="ko-KR" altLang="en-US" dirty="0" err="1">
                <a:latin typeface="Consolas" panose="020B0609020204030204" pitchFamily="49" charset="0"/>
              </a:rPr>
              <a:t>camera</a:t>
            </a:r>
            <a:r>
              <a:rPr lang="ko-KR" altLang="en-US" dirty="0">
                <a:latin typeface="Consolas" panose="020B0609020204030204" pitchFamily="49" charset="0"/>
              </a:rPr>
              <a:t> </a:t>
            </a:r>
            <a:r>
              <a:rPr lang="ko-KR" altLang="en-US" dirty="0" err="1">
                <a:latin typeface="Consolas" panose="020B0609020204030204" pitchFamily="49" charset="0"/>
              </a:rPr>
              <a:t>is</a:t>
            </a:r>
            <a:r>
              <a:rPr lang="ko-KR" altLang="en-US" dirty="0">
                <a:latin typeface="Consolas" panose="020B0609020204030204" pitchFamily="49" charset="0"/>
              </a:rPr>
              <a:t> </a:t>
            </a:r>
            <a:r>
              <a:rPr lang="ko-KR" altLang="en-US" dirty="0" err="1">
                <a:latin typeface="Consolas" panose="020B0609020204030204" pitchFamily="49" charset="0"/>
              </a:rPr>
              <a:t>hence</a:t>
            </a:r>
            <a:r>
              <a:rPr lang="ko-KR" altLang="en-US" dirty="0">
                <a:latin typeface="Consolas" panose="020B0609020204030204" pitchFamily="49" charset="0"/>
              </a:rPr>
              <a:t> </a:t>
            </a:r>
            <a:r>
              <a:rPr lang="en-US" altLang="ko-KR" b="1" dirty="0">
                <a:latin typeface="Consolas" panose="020B0609020204030204" pitchFamily="49" charset="0"/>
              </a:rPr>
              <a:t>&lt;direction&gt;.</a:t>
            </a:r>
            <a:r>
              <a:rPr lang="ko-KR" altLang="en-US" dirty="0">
                <a:latin typeface="Consolas" panose="020B0609020204030204" pitchFamily="49" charset="0"/>
              </a:rPr>
              <a:t>The </a:t>
            </a:r>
            <a:r>
              <a:rPr lang="ko-KR" altLang="en-US" dirty="0" err="1">
                <a:latin typeface="Consolas" panose="020B0609020204030204" pitchFamily="49" charset="0"/>
              </a:rPr>
              <a:t>left</a:t>
            </a:r>
            <a:endParaRPr lang="ko-KR" altLang="en-US" dirty="0">
              <a:latin typeface="Consolas" panose="020B0609020204030204" pitchFamily="49" charset="0"/>
            </a:endParaRPr>
          </a:p>
          <a:p>
            <a:pPr>
              <a:lnSpc>
                <a:spcPct val="150000"/>
              </a:lnSpc>
            </a:pPr>
            <a:r>
              <a:rPr lang="ko-KR" altLang="en-US" dirty="0">
                <a:latin typeface="Consolas" panose="020B0609020204030204" pitchFamily="49" charset="0"/>
              </a:rPr>
              <a:t>  </a:t>
            </a:r>
            <a:r>
              <a:rPr lang="ko-KR" altLang="en-US" dirty="0" err="1">
                <a:latin typeface="Consolas" panose="020B0609020204030204" pitchFamily="49" charset="0"/>
              </a:rPr>
              <a:t>direction</a:t>
            </a:r>
            <a:r>
              <a:rPr lang="ko-KR" altLang="en-US" dirty="0">
                <a:latin typeface="Consolas" panose="020B0609020204030204" pitchFamily="49" charset="0"/>
              </a:rPr>
              <a:t> of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child</a:t>
            </a:r>
            <a:r>
              <a:rPr lang="ko-KR" altLang="en-US" dirty="0">
                <a:latin typeface="Consolas" panose="020B0609020204030204" pitchFamily="49" charset="0"/>
              </a:rPr>
              <a:t> </a:t>
            </a:r>
            <a:r>
              <a:rPr lang="ko-KR" altLang="en-US" dirty="0" err="1">
                <a:latin typeface="Consolas" panose="020B0609020204030204" pitchFamily="49" charset="0"/>
              </a:rPr>
              <a:t>is</a:t>
            </a:r>
            <a:r>
              <a:rPr lang="ko-KR" altLang="en-US" dirty="0">
                <a:latin typeface="Consolas" panose="020B0609020204030204" pitchFamily="49" charset="0"/>
              </a:rPr>
              <a:t> </a:t>
            </a:r>
            <a:r>
              <a:rPr lang="en-US" altLang="ko-KR" b="1" dirty="0">
                <a:latin typeface="Consolas" panose="020B0609020204030204" pitchFamily="49" charset="0"/>
              </a:rPr>
              <a:t>&lt;direction&gt;.</a:t>
            </a:r>
            <a:r>
              <a:rPr lang="ko-KR" altLang="en-US" dirty="0">
                <a:latin typeface="Consolas" panose="020B0609020204030204" pitchFamily="49" charset="0"/>
              </a:rPr>
              <a:t> The </a:t>
            </a:r>
            <a:r>
              <a:rPr lang="ko-KR" altLang="en-US" dirty="0" err="1">
                <a:latin typeface="Consolas" panose="020B0609020204030204" pitchFamily="49" charset="0"/>
              </a:rPr>
              <a:t>cosine</a:t>
            </a:r>
            <a:r>
              <a:rPr lang="ko-KR" altLang="en-US" dirty="0">
                <a:latin typeface="Consolas" panose="020B0609020204030204" pitchFamily="49" charset="0"/>
              </a:rPr>
              <a:t> </a:t>
            </a:r>
            <a:r>
              <a:rPr lang="ko-KR" altLang="en-US" dirty="0" err="1">
                <a:latin typeface="Consolas" panose="020B0609020204030204" pitchFamily="49" charset="0"/>
              </a:rPr>
              <a:t>similarity</a:t>
            </a:r>
            <a:endParaRPr lang="ko-KR" altLang="en-US" dirty="0">
              <a:latin typeface="Consolas" panose="020B0609020204030204" pitchFamily="49" charset="0"/>
            </a:endParaRPr>
          </a:p>
          <a:p>
            <a:pPr>
              <a:lnSpc>
                <a:spcPct val="150000"/>
              </a:lnSpc>
            </a:pPr>
            <a:r>
              <a:rPr lang="ko-KR" altLang="en-US" dirty="0">
                <a:latin typeface="Consolas" panose="020B0609020204030204" pitchFamily="49" charset="0"/>
              </a:rPr>
              <a:t>  </a:t>
            </a:r>
            <a:r>
              <a:rPr lang="ko-KR" altLang="en-US" dirty="0" err="1">
                <a:latin typeface="Consolas" panose="020B0609020204030204" pitchFamily="49" charset="0"/>
              </a:rPr>
              <a:t>between</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vector</a:t>
            </a:r>
            <a:r>
              <a:rPr lang="ko-KR" altLang="en-US" dirty="0">
                <a:latin typeface="Consolas" panose="020B0609020204030204" pitchFamily="49" charset="0"/>
              </a:rPr>
              <a:t> </a:t>
            </a:r>
            <a:r>
              <a:rPr lang="ko-KR" altLang="en-US" dirty="0" err="1">
                <a:latin typeface="Consolas" panose="020B0609020204030204" pitchFamily="49" charset="0"/>
              </a:rPr>
              <a:t>pointing</a:t>
            </a:r>
            <a:r>
              <a:rPr lang="ko-KR" altLang="en-US" dirty="0">
                <a:latin typeface="Consolas" panose="020B0609020204030204" pitchFamily="49" charset="0"/>
              </a:rPr>
              <a:t> </a:t>
            </a:r>
            <a:r>
              <a:rPr lang="ko-KR" altLang="en-US" dirty="0" err="1">
                <a:latin typeface="Consolas" panose="020B0609020204030204" pitchFamily="49" charset="0"/>
              </a:rPr>
              <a:t>to</a:t>
            </a:r>
            <a:r>
              <a:rPr lang="ko-KR" altLang="en-US" dirty="0">
                <a:latin typeface="Consolas" panose="020B0609020204030204" pitchFamily="49" charset="0"/>
              </a:rPr>
              <a:t> </a:t>
            </a:r>
            <a:r>
              <a:rPr lang="ko-KR" altLang="en-US" dirty="0" err="1">
                <a:latin typeface="Consolas" panose="020B0609020204030204" pitchFamily="49" charset="0"/>
              </a:rPr>
              <a:t>camera</a:t>
            </a:r>
            <a:r>
              <a:rPr lang="ko-KR" altLang="en-US" dirty="0">
                <a:latin typeface="Consolas" panose="020B0609020204030204" pitchFamily="49" charset="0"/>
              </a:rPr>
              <a:t> and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left</a:t>
            </a:r>
            <a:r>
              <a:rPr lang="ko-KR" altLang="en-US" dirty="0">
                <a:latin typeface="Consolas" panose="020B0609020204030204" pitchFamily="49" charset="0"/>
              </a:rPr>
              <a:t> </a:t>
            </a:r>
            <a:r>
              <a:rPr lang="ko-KR" altLang="en-US" dirty="0" err="1">
                <a:latin typeface="Consolas" panose="020B0609020204030204" pitchFamily="49" charset="0"/>
              </a:rPr>
              <a:t>direction</a:t>
            </a:r>
            <a:r>
              <a:rPr lang="ko-KR" altLang="en-US" dirty="0">
                <a:latin typeface="Consolas" panose="020B0609020204030204" pitchFamily="49" charset="0"/>
              </a:rPr>
              <a:t> </a:t>
            </a:r>
            <a:r>
              <a:rPr lang="ko-KR" altLang="en-US" dirty="0" err="1">
                <a:latin typeface="Consolas" panose="020B0609020204030204" pitchFamily="49" charset="0"/>
              </a:rPr>
              <a:t>is</a:t>
            </a:r>
            <a:r>
              <a:rPr lang="ko-KR" altLang="en-US" dirty="0">
                <a:latin typeface="Consolas" panose="020B0609020204030204" pitchFamily="49" charset="0"/>
              </a:rPr>
              <a:t> </a:t>
            </a:r>
            <a:r>
              <a:rPr lang="en-US" altLang="ko-KR" b="1" dirty="0">
                <a:latin typeface="Consolas" panose="020B0609020204030204" pitchFamily="49" charset="0"/>
              </a:rPr>
              <a:t>&lt;angle&gt;</a:t>
            </a:r>
            <a:r>
              <a:rPr lang="ko-KR" altLang="en-US" dirty="0">
                <a:latin typeface="Consolas" panose="020B0609020204030204" pitchFamily="49" charset="0"/>
              </a:rPr>
              <a:t>,</a:t>
            </a:r>
          </a:p>
          <a:p>
            <a:pPr>
              <a:lnSpc>
                <a:spcPct val="150000"/>
              </a:lnSpc>
            </a:pPr>
            <a:r>
              <a:rPr lang="ko-KR" altLang="en-US" dirty="0">
                <a:latin typeface="Consolas" panose="020B0609020204030204" pitchFamily="49" charset="0"/>
              </a:rPr>
              <a:t>  </a:t>
            </a:r>
            <a:r>
              <a:rPr lang="ko-KR" altLang="en-US" dirty="0" err="1">
                <a:latin typeface="Consolas" panose="020B0609020204030204" pitchFamily="49" charset="0"/>
              </a:rPr>
              <a:t>corresponding</a:t>
            </a:r>
            <a:r>
              <a:rPr lang="ko-KR" altLang="en-US" dirty="0">
                <a:latin typeface="Consolas" panose="020B0609020204030204" pitchFamily="49" charset="0"/>
              </a:rPr>
              <a:t> </a:t>
            </a:r>
            <a:r>
              <a:rPr lang="ko-KR" altLang="en-US" dirty="0" err="1">
                <a:latin typeface="Consolas" panose="020B0609020204030204" pitchFamily="49" charset="0"/>
              </a:rPr>
              <a:t>to</a:t>
            </a:r>
            <a:r>
              <a:rPr lang="ko-KR" altLang="en-US" dirty="0">
                <a:latin typeface="Consolas" panose="020B0609020204030204" pitchFamily="49" charset="0"/>
              </a:rPr>
              <a:t> </a:t>
            </a:r>
            <a:r>
              <a:rPr lang="ko-KR" altLang="en-US" dirty="0" err="1">
                <a:latin typeface="Consolas" panose="020B0609020204030204" pitchFamily="49" charset="0"/>
              </a:rPr>
              <a:t>an</a:t>
            </a:r>
            <a:r>
              <a:rPr lang="ko-KR" altLang="en-US" dirty="0">
                <a:latin typeface="Consolas" panose="020B0609020204030204" pitchFamily="49" charset="0"/>
              </a:rPr>
              <a:t> </a:t>
            </a:r>
            <a:r>
              <a:rPr lang="ko-KR" altLang="en-US" dirty="0" err="1">
                <a:latin typeface="Consolas" panose="020B0609020204030204" pitchFamily="49" charset="0"/>
              </a:rPr>
              <a:t>angle</a:t>
            </a:r>
            <a:r>
              <a:rPr lang="ko-KR" altLang="en-US" dirty="0">
                <a:latin typeface="Consolas" panose="020B0609020204030204" pitchFamily="49" charset="0"/>
              </a:rPr>
              <a:t> of </a:t>
            </a:r>
            <a:r>
              <a:rPr lang="en-US" altLang="ko-KR" b="1" dirty="0">
                <a:latin typeface="Consolas" panose="020B0609020204030204" pitchFamily="49" charset="0"/>
              </a:rPr>
              <a:t>&lt;angle&gt;</a:t>
            </a:r>
            <a:r>
              <a:rPr lang="ko-KR" altLang="en-US" b="1" dirty="0">
                <a:latin typeface="Consolas" panose="020B0609020204030204" pitchFamily="49" charset="0"/>
              </a:rPr>
              <a:t> </a:t>
            </a:r>
            <a:r>
              <a:rPr lang="ko-KR" altLang="en-US" dirty="0" err="1">
                <a:latin typeface="Consolas" panose="020B0609020204030204" pitchFamily="49" charset="0"/>
              </a:rPr>
              <a:t>degrees</a:t>
            </a:r>
            <a:r>
              <a:rPr lang="ko-KR" altLang="en-US" dirty="0">
                <a:latin typeface="Consolas" panose="020B0609020204030204" pitchFamily="49" charset="0"/>
              </a:rPr>
              <a:t>. </a:t>
            </a:r>
            <a:r>
              <a:rPr lang="ko-KR" altLang="en-US" dirty="0" err="1">
                <a:latin typeface="Consolas" panose="020B0609020204030204" pitchFamily="49" charset="0"/>
              </a:rPr>
              <a:t>Thus</a:t>
            </a: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angle</a:t>
            </a:r>
            <a:r>
              <a:rPr lang="ko-KR" altLang="en-US" dirty="0">
                <a:latin typeface="Consolas" panose="020B0609020204030204" pitchFamily="49" charset="0"/>
              </a:rPr>
              <a:t> </a:t>
            </a:r>
            <a:r>
              <a:rPr lang="ko-KR" altLang="en-US" dirty="0" err="1">
                <a:latin typeface="Consolas" panose="020B0609020204030204" pitchFamily="49" charset="0"/>
              </a:rPr>
              <a:t>between</a:t>
            </a:r>
            <a:endParaRPr lang="ko-KR" altLang="en-US" dirty="0">
              <a:latin typeface="Consolas" panose="020B0609020204030204" pitchFamily="49" charset="0"/>
            </a:endParaRPr>
          </a:p>
          <a:p>
            <a:pPr>
              <a:lnSpc>
                <a:spcPct val="150000"/>
              </a:lnSpc>
            </a:pPr>
            <a:r>
              <a:rPr lang="ko-KR" altLang="en-US" dirty="0">
                <a:latin typeface="Consolas" panose="020B0609020204030204" pitchFamily="49" charset="0"/>
              </a:rPr>
              <a:t>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vector</a:t>
            </a:r>
            <a:r>
              <a:rPr lang="ko-KR" altLang="en-US" dirty="0">
                <a:latin typeface="Consolas" panose="020B0609020204030204" pitchFamily="49" charset="0"/>
              </a:rPr>
              <a:t> </a:t>
            </a:r>
            <a:r>
              <a:rPr lang="ko-KR" altLang="en-US" dirty="0" err="1">
                <a:latin typeface="Consolas" panose="020B0609020204030204" pitchFamily="49" charset="0"/>
              </a:rPr>
              <a:t>pointing</a:t>
            </a:r>
            <a:r>
              <a:rPr lang="ko-KR" altLang="en-US" dirty="0">
                <a:latin typeface="Consolas" panose="020B0609020204030204" pitchFamily="49" charset="0"/>
              </a:rPr>
              <a:t> </a:t>
            </a:r>
            <a:r>
              <a:rPr lang="ko-KR" altLang="en-US" dirty="0" err="1">
                <a:latin typeface="Consolas" panose="020B0609020204030204" pitchFamily="49" charset="0"/>
              </a:rPr>
              <a:t>to</a:t>
            </a:r>
            <a:r>
              <a:rPr lang="ko-KR" altLang="en-US" dirty="0">
                <a:latin typeface="Consolas" panose="020B0609020204030204" pitchFamily="49" charset="0"/>
              </a:rPr>
              <a:t> </a:t>
            </a:r>
            <a:r>
              <a:rPr lang="ko-KR" altLang="en-US" dirty="0" err="1">
                <a:latin typeface="Consolas" panose="020B0609020204030204" pitchFamily="49" charset="0"/>
              </a:rPr>
              <a:t>camera</a:t>
            </a:r>
            <a:r>
              <a:rPr lang="ko-KR" altLang="en-US" dirty="0">
                <a:latin typeface="Consolas" panose="020B0609020204030204" pitchFamily="49" charset="0"/>
              </a:rPr>
              <a:t> and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right</a:t>
            </a:r>
            <a:r>
              <a:rPr lang="ko-KR" altLang="en-US" dirty="0">
                <a:latin typeface="Consolas" panose="020B0609020204030204" pitchFamily="49" charset="0"/>
              </a:rPr>
              <a:t> </a:t>
            </a:r>
            <a:r>
              <a:rPr lang="ko-KR" altLang="en-US" dirty="0" err="1">
                <a:latin typeface="Consolas" panose="020B0609020204030204" pitchFamily="49" charset="0"/>
              </a:rPr>
              <a:t>direction</a:t>
            </a:r>
            <a:r>
              <a:rPr lang="ko-KR" altLang="en-US" dirty="0">
                <a:latin typeface="Consolas" panose="020B0609020204030204" pitchFamily="49" charset="0"/>
              </a:rPr>
              <a:t> </a:t>
            </a:r>
            <a:r>
              <a:rPr lang="ko-KR" altLang="en-US" dirty="0" err="1">
                <a:latin typeface="Consolas" panose="020B0609020204030204" pitchFamily="49" charset="0"/>
              </a:rPr>
              <a:t>is</a:t>
            </a:r>
            <a:r>
              <a:rPr lang="ko-KR" altLang="en-US" dirty="0">
                <a:latin typeface="Consolas" panose="020B0609020204030204" pitchFamily="49" charset="0"/>
              </a:rPr>
              <a:t> </a:t>
            </a:r>
            <a:r>
              <a:rPr lang="en-US" altLang="ko-KR" b="1" dirty="0">
                <a:latin typeface="Consolas" panose="020B0609020204030204" pitchFamily="49" charset="0"/>
              </a:rPr>
              <a:t>&lt;angle&gt;</a:t>
            </a:r>
            <a:r>
              <a:rPr lang="ko-KR" altLang="en-US" b="1" dirty="0">
                <a:latin typeface="Consolas" panose="020B0609020204030204" pitchFamily="49" charset="0"/>
              </a:rPr>
              <a:t>  </a:t>
            </a:r>
            <a:r>
              <a:rPr lang="ko-KR" altLang="en-US" dirty="0" err="1">
                <a:latin typeface="Consolas" panose="020B0609020204030204" pitchFamily="49" charset="0"/>
              </a:rPr>
              <a:t>degrees</a:t>
            </a:r>
            <a:r>
              <a:rPr lang="ko-KR" altLang="en-US" dirty="0">
                <a:latin typeface="Consolas" panose="020B0609020204030204" pitchFamily="49" charset="0"/>
              </a:rPr>
              <a:t>.</a:t>
            </a:r>
          </a:p>
          <a:p>
            <a:pPr>
              <a:lnSpc>
                <a:spcPct val="150000"/>
              </a:lnSpc>
            </a:pPr>
            <a:r>
              <a:rPr lang="ko-KR" altLang="en-US" dirty="0">
                <a:latin typeface="Consolas" panose="020B0609020204030204" pitchFamily="49" charset="0"/>
              </a:rPr>
              <a:t>  The </a:t>
            </a:r>
            <a:r>
              <a:rPr lang="ko-KR" altLang="en-US" dirty="0" err="1">
                <a:latin typeface="Consolas" panose="020B0609020204030204" pitchFamily="49" charset="0"/>
              </a:rPr>
              <a:t>front</a:t>
            </a:r>
            <a:r>
              <a:rPr lang="ko-KR" altLang="en-US" dirty="0">
                <a:latin typeface="Consolas" panose="020B0609020204030204" pitchFamily="49" charset="0"/>
              </a:rPr>
              <a:t> </a:t>
            </a:r>
            <a:r>
              <a:rPr lang="ko-KR" altLang="en-US" dirty="0" err="1">
                <a:latin typeface="Consolas" panose="020B0609020204030204" pitchFamily="49" charset="0"/>
              </a:rPr>
              <a:t>direction</a:t>
            </a:r>
            <a:r>
              <a:rPr lang="ko-KR" altLang="en-US" dirty="0">
                <a:latin typeface="Consolas" panose="020B0609020204030204" pitchFamily="49" charset="0"/>
              </a:rPr>
              <a:t> of </a:t>
            </a:r>
            <a:r>
              <a:rPr lang="ko-KR" altLang="en-US" dirty="0" err="1">
                <a:latin typeface="Consolas" panose="020B0609020204030204" pitchFamily="49" charset="0"/>
              </a:rPr>
              <a:t>the</a:t>
            </a:r>
            <a:r>
              <a:rPr lang="ko-KR" altLang="en-US" dirty="0">
                <a:latin typeface="Consolas" panose="020B0609020204030204" pitchFamily="49" charset="0"/>
              </a:rPr>
              <a:t> </a:t>
            </a:r>
            <a:r>
              <a:rPr lang="ko-KR" altLang="en-US" dirty="0" err="1">
                <a:latin typeface="Consolas" panose="020B0609020204030204" pitchFamily="49" charset="0"/>
              </a:rPr>
              <a:t>child</a:t>
            </a:r>
            <a:r>
              <a:rPr lang="ko-KR" altLang="en-US" dirty="0">
                <a:latin typeface="Consolas" panose="020B0609020204030204" pitchFamily="49" charset="0"/>
              </a:rPr>
              <a:t> </a:t>
            </a:r>
            <a:r>
              <a:rPr lang="ko-KR" altLang="en-US" dirty="0" err="1">
                <a:latin typeface="Consolas" panose="020B0609020204030204" pitchFamily="49" charset="0"/>
              </a:rPr>
              <a:t>is</a:t>
            </a:r>
            <a:r>
              <a:rPr lang="ko-KR" altLang="en-US" dirty="0">
                <a:latin typeface="Consolas" panose="020B0609020204030204" pitchFamily="49" charset="0"/>
              </a:rPr>
              <a:t> </a:t>
            </a:r>
            <a:r>
              <a:rPr lang="en-US" altLang="ko-KR" b="1" dirty="0">
                <a:latin typeface="Consolas" panose="020B0609020204030204" pitchFamily="49" charset="0"/>
              </a:rPr>
              <a:t>&lt;direction&gt;.</a:t>
            </a:r>
          </a:p>
          <a:p>
            <a:r>
              <a:rPr lang="ko-KR" altLang="en-US" dirty="0">
                <a:latin typeface="Consolas" panose="020B0609020204030204" pitchFamily="49" charset="0"/>
              </a:rPr>
              <a:t>       </a:t>
            </a:r>
          </a:p>
          <a:p>
            <a:r>
              <a:rPr lang="ko-KR" altLang="en-US" dirty="0">
                <a:latin typeface="Consolas" panose="020B0609020204030204" pitchFamily="49" charset="0"/>
              </a:rPr>
              <a:t>  </a:t>
            </a:r>
          </a:p>
        </p:txBody>
      </p:sp>
      <p:sp>
        <p:nvSpPr>
          <p:cNvPr id="9" name="TextBox 8">
            <a:extLst>
              <a:ext uri="{FF2B5EF4-FFF2-40B4-BE49-F238E27FC236}">
                <a16:creationId xmlns:a16="http://schemas.microsoft.com/office/drawing/2014/main" id="{4E6D2F82-8645-494A-BAF6-AE09968C6D02}"/>
              </a:ext>
            </a:extLst>
          </p:cNvPr>
          <p:cNvSpPr txBox="1"/>
          <p:nvPr/>
        </p:nvSpPr>
        <p:spPr>
          <a:xfrm>
            <a:off x="113104" y="4001780"/>
            <a:ext cx="8917791" cy="584775"/>
          </a:xfrm>
          <a:prstGeom prst="rect">
            <a:avLst/>
          </a:prstGeom>
          <a:noFill/>
        </p:spPr>
        <p:txBody>
          <a:bodyPr wrap="square">
            <a:spAutoFit/>
          </a:bodyPr>
          <a:lstStyle/>
          <a:p>
            <a:r>
              <a:rPr lang="en-US" altLang="ko-KR" sz="1600" b="0" i="0" dirty="0">
                <a:effectLst/>
                <a:latin typeface="+mn-lt"/>
              </a:rPr>
              <a:t>The model then </a:t>
            </a:r>
            <a:r>
              <a:rPr lang="en-US" altLang="ko-KR" sz="1600" b="1" i="0" dirty="0">
                <a:effectLst/>
                <a:latin typeface="+mn-lt"/>
              </a:rPr>
              <a:t>outputs the next reasoning process </a:t>
            </a:r>
            <a:r>
              <a:rPr lang="en-US" altLang="ko-KR" sz="1600" b="0" i="0" dirty="0">
                <a:effectLst/>
                <a:latin typeface="+mn-lt"/>
              </a:rPr>
              <a:t>as a chain-of-thought (</a:t>
            </a:r>
            <a:r>
              <a:rPr lang="en-US" altLang="ko-KR" sz="1600" b="0" i="0" dirty="0" err="1">
                <a:effectLst/>
                <a:latin typeface="+mn-lt"/>
              </a:rPr>
              <a:t>CoT</a:t>
            </a:r>
            <a:r>
              <a:rPr lang="en-US" altLang="ko-KR" sz="1600" b="0" i="0" dirty="0">
                <a:effectLst/>
                <a:latin typeface="+mn-lt"/>
              </a:rPr>
              <a:t>), together with the augmented labels, including the updated </a:t>
            </a:r>
            <a:r>
              <a:rPr lang="en-US" altLang="ko-KR" sz="1600" b="1" i="0" dirty="0">
                <a:effectLst/>
                <a:latin typeface="+mn-lt"/>
              </a:rPr>
              <a:t>&lt;</a:t>
            </a:r>
            <a:r>
              <a:rPr lang="en-US" altLang="ko-KR" sz="1600" b="1" i="0" dirty="0" err="1">
                <a:effectLst/>
                <a:latin typeface="+mn-lt"/>
              </a:rPr>
              <a:t>bounding_box</a:t>
            </a:r>
            <a:r>
              <a:rPr lang="en-US" altLang="ko-KR" sz="1600" b="1" i="0" dirty="0">
                <a:effectLst/>
                <a:latin typeface="+mn-lt"/>
              </a:rPr>
              <a:t>&gt; </a:t>
            </a:r>
            <a:r>
              <a:rPr lang="en-US" altLang="ko-KR" sz="1600" b="0" i="0" dirty="0">
                <a:effectLst/>
                <a:latin typeface="+mn-lt"/>
              </a:rPr>
              <a:t>and </a:t>
            </a:r>
            <a:r>
              <a:rPr lang="en-US" altLang="ko-KR" sz="1600" b="1" i="0" dirty="0">
                <a:effectLst/>
                <a:latin typeface="+mn-lt"/>
              </a:rPr>
              <a:t>&lt;direction&gt;</a:t>
            </a:r>
            <a:endParaRPr lang="ko-KR" altLang="en-US" sz="1600" b="1" dirty="0">
              <a:latin typeface="+mn-lt"/>
            </a:endParaRPr>
          </a:p>
        </p:txBody>
      </p:sp>
    </p:spTree>
    <p:extLst>
      <p:ext uri="{BB962C8B-B14F-4D97-AF65-F5344CB8AC3E}">
        <p14:creationId xmlns:p14="http://schemas.microsoft.com/office/powerpoint/2010/main" val="1256754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3"/>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ko" dirty="0"/>
              <a:t>Training </a:t>
            </a:r>
            <a:endParaRPr dirty="0"/>
          </a:p>
        </p:txBody>
      </p:sp>
      <p:sp>
        <p:nvSpPr>
          <p:cNvPr id="173" name="Google Shape;173;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16</a:t>
            </a:fld>
            <a:endParaRPr dirty="0"/>
          </a:p>
        </p:txBody>
      </p:sp>
      <p:sp>
        <p:nvSpPr>
          <p:cNvPr id="12" name="TextBox 11">
            <a:extLst>
              <a:ext uri="{FF2B5EF4-FFF2-40B4-BE49-F238E27FC236}">
                <a16:creationId xmlns:a16="http://schemas.microsoft.com/office/drawing/2014/main" id="{787BC6F8-75EC-4C97-9AB5-10049F3A78C6}"/>
              </a:ext>
            </a:extLst>
          </p:cNvPr>
          <p:cNvSpPr txBox="1"/>
          <p:nvPr/>
        </p:nvSpPr>
        <p:spPr>
          <a:xfrm>
            <a:off x="200815" y="802986"/>
            <a:ext cx="7723819" cy="338554"/>
          </a:xfrm>
          <a:prstGeom prst="rect">
            <a:avLst/>
          </a:prstGeom>
          <a:noFill/>
        </p:spPr>
        <p:txBody>
          <a:bodyPr wrap="square" rtlCol="0">
            <a:spAutoFit/>
          </a:bodyPr>
          <a:lstStyle/>
          <a:p>
            <a:r>
              <a:rPr lang="en-US" altLang="ko-KR" sz="1600" b="1" dirty="0"/>
              <a:t>Data set : HF-Aug</a:t>
            </a:r>
            <a:endParaRPr lang="ko-KR" altLang="en-US" sz="1600" dirty="0"/>
          </a:p>
        </p:txBody>
      </p:sp>
      <p:sp>
        <p:nvSpPr>
          <p:cNvPr id="19" name="TextBox 18">
            <a:extLst>
              <a:ext uri="{FF2B5EF4-FFF2-40B4-BE49-F238E27FC236}">
                <a16:creationId xmlns:a16="http://schemas.microsoft.com/office/drawing/2014/main" id="{1172200C-DECA-4C95-BD9A-F1DF6E89A325}"/>
              </a:ext>
            </a:extLst>
          </p:cNvPr>
          <p:cNvSpPr txBox="1"/>
          <p:nvPr/>
        </p:nvSpPr>
        <p:spPr>
          <a:xfrm>
            <a:off x="200814" y="3163773"/>
            <a:ext cx="7723819" cy="338554"/>
          </a:xfrm>
          <a:prstGeom prst="rect">
            <a:avLst/>
          </a:prstGeom>
          <a:noFill/>
        </p:spPr>
        <p:txBody>
          <a:bodyPr wrap="square" rtlCol="0">
            <a:spAutoFit/>
          </a:bodyPr>
          <a:lstStyle/>
          <a:p>
            <a:r>
              <a:rPr lang="en-US" altLang="ko-KR" sz="1600" b="1" dirty="0"/>
              <a:t>Data set : </a:t>
            </a:r>
            <a:r>
              <a:rPr lang="en-US" altLang="ko-KR" sz="1600" b="1" dirty="0">
                <a:effectLst/>
              </a:rPr>
              <a:t>MVGen-96k</a:t>
            </a:r>
            <a:endParaRPr lang="ko-KR" altLang="en-US" sz="1600" dirty="0"/>
          </a:p>
        </p:txBody>
      </p:sp>
      <p:sp>
        <p:nvSpPr>
          <p:cNvPr id="21" name="TextBox 20">
            <a:extLst>
              <a:ext uri="{FF2B5EF4-FFF2-40B4-BE49-F238E27FC236}">
                <a16:creationId xmlns:a16="http://schemas.microsoft.com/office/drawing/2014/main" id="{E840A552-5DB6-4E61-B360-1E43EA9A251E}"/>
              </a:ext>
            </a:extLst>
          </p:cNvPr>
          <p:cNvSpPr txBox="1"/>
          <p:nvPr/>
        </p:nvSpPr>
        <p:spPr>
          <a:xfrm>
            <a:off x="200814" y="1954706"/>
            <a:ext cx="6314286" cy="738664"/>
          </a:xfrm>
          <a:prstGeom prst="rect">
            <a:avLst/>
          </a:prstGeom>
          <a:noFill/>
        </p:spPr>
        <p:txBody>
          <a:bodyPr wrap="square">
            <a:spAutoFit/>
          </a:bodyPr>
          <a:lstStyle/>
          <a:p>
            <a:r>
              <a:rPr lang="en-US" altLang="ko-KR" dirty="0"/>
              <a:t>+10° rotation (counterclockwise) — 1,200 samples</a:t>
            </a:r>
          </a:p>
          <a:p>
            <a:r>
              <a:rPr lang="en-US" altLang="ko-KR" dirty="0"/>
              <a:t>−10° rotation (clockwise)             — 1,200 samples</a:t>
            </a:r>
          </a:p>
          <a:p>
            <a:r>
              <a:rPr lang="en-US" altLang="ko-KR" dirty="0"/>
              <a:t>Total: 2,400 samples</a:t>
            </a:r>
          </a:p>
        </p:txBody>
      </p:sp>
      <p:sp>
        <p:nvSpPr>
          <p:cNvPr id="24" name="TextBox 23">
            <a:extLst>
              <a:ext uri="{FF2B5EF4-FFF2-40B4-BE49-F238E27FC236}">
                <a16:creationId xmlns:a16="http://schemas.microsoft.com/office/drawing/2014/main" id="{12AADDC7-1C10-49B5-9332-1C8D7319A96F}"/>
              </a:ext>
            </a:extLst>
          </p:cNvPr>
          <p:cNvSpPr txBox="1"/>
          <p:nvPr/>
        </p:nvSpPr>
        <p:spPr>
          <a:xfrm>
            <a:off x="200814" y="1277964"/>
            <a:ext cx="7550804" cy="523220"/>
          </a:xfrm>
          <a:prstGeom prst="rect">
            <a:avLst/>
          </a:prstGeom>
          <a:noFill/>
        </p:spPr>
        <p:txBody>
          <a:bodyPr wrap="square">
            <a:spAutoFit/>
          </a:bodyPr>
          <a:lstStyle/>
          <a:p>
            <a:r>
              <a:rPr lang="en-US" altLang="ko-KR" dirty="0"/>
              <a:t>Update labels by applying rotation matrices to the direction vectors and 3D bounding boxes.</a:t>
            </a:r>
          </a:p>
          <a:p>
            <a:r>
              <a:rPr lang="en-US" altLang="ko-KR" dirty="0" err="1"/>
              <a:t>CoT</a:t>
            </a:r>
            <a:r>
              <a:rPr lang="en-US" altLang="ko-KR" dirty="0"/>
              <a:t> labeling x </a:t>
            </a:r>
            <a:endParaRPr lang="ko-KR" altLang="en-US" dirty="0"/>
          </a:p>
        </p:txBody>
      </p:sp>
      <p:sp>
        <p:nvSpPr>
          <p:cNvPr id="26" name="TextBox 25">
            <a:extLst>
              <a:ext uri="{FF2B5EF4-FFF2-40B4-BE49-F238E27FC236}">
                <a16:creationId xmlns:a16="http://schemas.microsoft.com/office/drawing/2014/main" id="{B2F8BBE2-E791-4DED-8317-886FD1B04B1D}"/>
              </a:ext>
            </a:extLst>
          </p:cNvPr>
          <p:cNvSpPr txBox="1"/>
          <p:nvPr/>
        </p:nvSpPr>
        <p:spPr>
          <a:xfrm>
            <a:off x="200814" y="4078904"/>
            <a:ext cx="5909041" cy="523220"/>
          </a:xfrm>
          <a:prstGeom prst="rect">
            <a:avLst/>
          </a:prstGeom>
          <a:noFill/>
        </p:spPr>
        <p:txBody>
          <a:bodyPr wrap="square">
            <a:spAutoFit/>
          </a:bodyPr>
          <a:lstStyle/>
          <a:p>
            <a:r>
              <a:rPr lang="fr-FR" altLang="ko-KR" dirty="0"/>
              <a:t>24,000 original questions × 4 viewpoints = 96,000 samples</a:t>
            </a:r>
          </a:p>
          <a:p>
            <a:r>
              <a:rPr lang="fr-FR" altLang="ko-KR" dirty="0"/>
              <a:t>Viewpoints: 0° (original), 10°, 20°, 30°</a:t>
            </a:r>
          </a:p>
        </p:txBody>
      </p:sp>
      <p:sp>
        <p:nvSpPr>
          <p:cNvPr id="28" name="TextBox 27">
            <a:extLst>
              <a:ext uri="{FF2B5EF4-FFF2-40B4-BE49-F238E27FC236}">
                <a16:creationId xmlns:a16="http://schemas.microsoft.com/office/drawing/2014/main" id="{AA657F71-5ECB-450E-8930-5E6BED0B0E57}"/>
              </a:ext>
            </a:extLst>
          </p:cNvPr>
          <p:cNvSpPr txBox="1"/>
          <p:nvPr/>
        </p:nvSpPr>
        <p:spPr>
          <a:xfrm>
            <a:off x="200814" y="3613643"/>
            <a:ext cx="8039177" cy="307777"/>
          </a:xfrm>
          <a:prstGeom prst="rect">
            <a:avLst/>
          </a:prstGeom>
          <a:noFill/>
        </p:spPr>
        <p:txBody>
          <a:bodyPr wrap="square">
            <a:spAutoFit/>
          </a:bodyPr>
          <a:lstStyle/>
          <a:p>
            <a:r>
              <a:rPr lang="en-US" altLang="ko-KR" dirty="0"/>
              <a:t>Qwen2.5-VL–based reasoning labeling for direction, bounding boxes, and chain-of-thought (</a:t>
            </a:r>
            <a:r>
              <a:rPr lang="en-US" altLang="ko-KR" dirty="0" err="1"/>
              <a:t>CoT</a:t>
            </a:r>
            <a:r>
              <a:rPr lang="en-US" altLang="ko-KR" dirty="0"/>
              <a:t>)</a:t>
            </a:r>
          </a:p>
        </p:txBody>
      </p:sp>
      <p:graphicFrame>
        <p:nvGraphicFramePr>
          <p:cNvPr id="174" name="Table 17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057400"/>
                <a:gridCol w="2057400"/>
                <a:gridCol w="2057400"/>
                <a:gridCol w="2057400"/>
              </a:tblGrid>
              <a:tr h="292608">
                <a:tc>
                  <a:txBody>
                    <a:bodyPr/>
                    <a:lstStyle/>
                    <a:p>
                      <a:pPr algn="ctr">
                        <a:defRPr sz="1100" b="1"/>
                      </a:pPr>
                      <a:r>
                        <a:t>Condition</a:t>
                      </a:r>
                    </a:p>
                  </a:txBody>
                  <a:tcPr/>
                </a:tc>
                <a:tc>
                  <a:txBody>
                    <a:bodyPr/>
                    <a:lstStyle/>
                    <a:p>
                      <a:pPr algn="ctr">
                        <a:defRPr sz="1100" b="1"/>
                      </a:pPr>
                      <a:r>
                        <a:t>Training Data</a:t>
                      </a:r>
                    </a:p>
                  </a:txBody>
                  <a:tcPr/>
                </a:tc>
                <a:tc>
                  <a:txBody>
                    <a:bodyPr/>
                    <a:lstStyle/>
                    <a:p>
                      <a:pPr algn="ctr">
                        <a:defRPr sz="1100" b="1"/>
                      </a:pPr>
                      <a:r>
                        <a:t>Label Method</a:t>
                      </a:r>
                    </a:p>
                  </a:txBody>
                  <a:tcPr/>
                </a:tc>
                <a:tc>
                  <a:txBody>
                    <a:bodyPr/>
                    <a:lstStyle/>
                    <a:p>
                      <a:pPr algn="ctr">
                        <a:defRPr sz="1100" b="1"/>
                      </a:pPr>
                      <a:r>
                        <a:t>CoT</a:t>
                      </a:r>
                    </a:p>
                  </a:txBody>
                  <a:tcPr/>
                </a:tc>
              </a:tr>
              <a:tr h="292608">
                <a:tc>
                  <a:txBody>
                    <a:bodyPr/>
                    <a:lstStyle/>
                    <a:p>
                      <a:pPr algn="ctr">
                        <a:defRPr sz="1000"/>
                      </a:pPr>
                      <a:r>
                        <a:t>Baseline</a:t>
                      </a:r>
                    </a:p>
                  </a:txBody>
                  <a:tcPr/>
                </a:tc>
                <a:tc>
                  <a:txBody>
                    <a:bodyPr/>
                    <a:lstStyle/>
                    <a:p>
                      <a:pPr algn="ctr">
                        <a:defRPr sz="1000"/>
                      </a:pPr>
                      <a:r>
                        <a:t>None (pretrained)</a:t>
                      </a:r>
                    </a:p>
                  </a:txBody>
                  <a:tcPr/>
                </a:tc>
                <a:tc>
                  <a:txBody>
                    <a:bodyPr/>
                    <a:lstStyle/>
                    <a:p>
                      <a:pPr algn="ctr">
                        <a:defRPr sz="1000"/>
                      </a:pPr>
                      <a:r>
                        <a:t>N/A</a:t>
                      </a:r>
                    </a:p>
                  </a:txBody>
                  <a:tcPr/>
                </a:tc>
                <a:tc>
                  <a:txBody>
                    <a:bodyPr/>
                    <a:lstStyle/>
                    <a:p>
                      <a:pPr algn="ctr">
                        <a:defRPr sz="1000"/>
                      </a:pPr>
                      <a:r>
                        <a:t>—</a:t>
                      </a:r>
                    </a:p>
                  </a:txBody>
                  <a:tcPr/>
                </a:tc>
              </a:tr>
              <a:tr h="292608">
                <a:tc>
                  <a:txBody>
                    <a:bodyPr/>
                    <a:lstStyle/>
                    <a:p>
                      <a:pPr algn="ctr">
                        <a:defRPr sz="1000"/>
                      </a:pPr>
                      <a:r>
                        <a:t>SFT-v2</a:t>
                      </a:r>
                    </a:p>
                  </a:txBody>
                  <a:tcPr/>
                </a:tc>
                <a:tc>
                  <a:txBody>
                    <a:bodyPr/>
                    <a:lstStyle/>
                    <a:p>
                      <a:pPr algn="ctr">
                        <a:defRPr sz="1000"/>
                      </a:pPr>
                      <a:r>
                        <a:t>Original (24k)</a:t>
                      </a:r>
                    </a:p>
                  </a:txBody>
                  <a:tcPr/>
                </a:tc>
                <a:tc>
                  <a:txBody>
                    <a:bodyPr/>
                    <a:lstStyle/>
                    <a:p>
                      <a:pPr algn="ctr">
                        <a:defRPr sz="1000"/>
                      </a:pPr>
                      <a:r>
                        <a:t>Ground truth</a:t>
                      </a:r>
                    </a:p>
                  </a:txBody>
                  <a:tcPr/>
                </a:tc>
                <a:tc>
                  <a:txBody>
                    <a:bodyPr/>
                    <a:lstStyle/>
                    <a:p>
                      <a:pPr algn="ctr">
                        <a:defRPr sz="1000"/>
                      </a:pPr>
                      <a:r>
                        <a:t>✓</a:t>
                      </a:r>
                    </a:p>
                  </a:txBody>
                  <a:tcPr/>
                </a:tc>
              </a:tr>
              <a:tr h="292608">
                <a:tc>
                  <a:txBody>
                    <a:bodyPr/>
                    <a:lstStyle/>
                    <a:p>
                      <a:pPr algn="ctr">
                        <a:defRPr sz="1000"/>
                      </a:pPr>
                      <a:r>
                        <a:t>HF-Aug</a:t>
                      </a:r>
                    </a:p>
                  </a:txBody>
                  <a:tcPr/>
                </a:tc>
                <a:tc>
                  <a:txBody>
                    <a:bodyPr/>
                    <a:lstStyle/>
                    <a:p>
                      <a:pPr algn="ctr">
                        <a:defRPr sz="1000"/>
                      </a:pPr>
                      <a:r>
                        <a:t>Original + rotated (26.4k)</a:t>
                      </a:r>
                    </a:p>
                  </a:txBody>
                  <a:tcPr/>
                </a:tc>
                <a:tc>
                  <a:txBody>
                    <a:bodyPr/>
                    <a:lstStyle/>
                    <a:p>
                      <a:pPr algn="ctr">
                        <a:defRPr sz="1000"/>
                      </a:pPr>
                      <a:r>
                        <a:t>Rotation matrix + CoT transform</a:t>
                      </a:r>
                    </a:p>
                  </a:txBody>
                  <a:tcPr/>
                </a:tc>
                <a:tc>
                  <a:txBody>
                    <a:bodyPr/>
                    <a:lstStyle/>
                    <a:p>
                      <a:pPr algn="ctr">
                        <a:defRPr sz="1000"/>
                      </a:pPr>
                      <a:r>
                        <a:t>✓</a:t>
                      </a:r>
                    </a:p>
                  </a:txBody>
                  <a:tcPr/>
                </a:tc>
              </a:tr>
              <a:tr h="292608">
                <a:tc>
                  <a:txBody>
                    <a:bodyPr/>
                    <a:lstStyle/>
                    <a:p>
                      <a:pPr algn="ctr">
                        <a:defRPr sz="1000"/>
                      </a:pPr>
                      <a:r>
                        <a:t>MVGen-96k</a:t>
                      </a:r>
                    </a:p>
                  </a:txBody>
                  <a:tcPr/>
                </a:tc>
                <a:tc>
                  <a:txBody>
                    <a:bodyPr/>
                    <a:lstStyle/>
                    <a:p>
                      <a:pPr algn="ctr">
                        <a:defRPr sz="1000"/>
                      </a:pPr>
                      <a:r>
                        <a:t>Original + 3 rotations (96k)</a:t>
                      </a:r>
                    </a:p>
                  </a:txBody>
                  <a:tcPr/>
                </a:tc>
                <a:tc>
                  <a:txBody>
                    <a:bodyPr/>
                    <a:lstStyle/>
                    <a:p>
                      <a:pPr algn="ctr">
                        <a:defRPr sz="1000"/>
                      </a:pPr>
                      <a:r>
                        <a:t>Qwen2.5-VL generation</a:t>
                      </a:r>
                    </a:p>
                  </a:txBody>
                  <a:tcPr/>
                </a:tc>
                <a:tc>
                  <a:txBody>
                    <a:bodyPr/>
                    <a:lstStyle/>
                    <a:p>
                      <a:pPr algn="ctr">
                        <a:defRPr sz="1000"/>
                      </a:pPr>
                      <a:r>
                        <a:t>✓</a:t>
                      </a:r>
                    </a:p>
                  </a:txBody>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4"/>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ko" dirty="0"/>
              <a:t>E</a:t>
            </a:r>
            <a:r>
              <a:rPr lang="ko" dirty="0"/>
              <a:t>valuation</a:t>
            </a:r>
            <a:endParaRPr dirty="0"/>
          </a:p>
        </p:txBody>
      </p:sp>
      <p:sp>
        <p:nvSpPr>
          <p:cNvPr id="180" name="Google Shape;18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17</a:t>
            </a:fld>
            <a:endParaRPr/>
          </a:p>
        </p:txBody>
      </p:sp>
      <p:graphicFrame>
        <p:nvGraphicFramePr>
          <p:cNvPr id="181" name="Table 180"/>
          <p:cNvGraphicFramePr>
            <a:graphicFrameLocks noGrp="1"/>
          </p:cNvGraphicFramePr>
          <p:nvPr/>
        </p:nvGraphicFramePr>
        <p:xfrm>
          <a:off x="1437165" y="572700"/>
          <a:ext cx="5860473" cy="4472031"/>
        </p:xfrm>
        <a:graphic>
          <a:graphicData uri="http://schemas.openxmlformats.org/drawingml/2006/table">
            <a:tbl>
              <a:tblPr firstRow="1" bandRow="1">
                <a:tableStyleId>{5C22544A-7EE6-4342-B048-85BDC9FD1C3A}</a:tableStyleId>
              </a:tblPr>
              <a:tblGrid>
                <a:gridCol w="1172094"/>
                <a:gridCol w="1172094"/>
                <a:gridCol w="1172094"/>
                <a:gridCol w="1172094"/>
                <a:gridCol w="1172097"/>
              </a:tblGrid>
              <a:tr h="319430">
                <a:tc>
                  <a:txBody>
                    <a:bodyPr/>
                    <a:lstStyle/>
                    <a:p>
                      <a:pPr>
                        <a:defRPr sz="1000" b="1"/>
                      </a:pPr>
                      <a:r>
                        <a:t>Category</a:t>
                      </a:r>
                    </a:p>
                  </a:txBody>
                  <a:tcPr/>
                </a:tc>
                <a:tc>
                  <a:txBody>
                    <a:bodyPr/>
                    <a:lstStyle/>
                    <a:p>
                      <a:pPr>
                        <a:defRPr sz="1000" b="1"/>
                      </a:pPr>
                      <a:r>
                        <a:t>Baseline</a:t>
                      </a:r>
                    </a:p>
                  </a:txBody>
                  <a:tcPr/>
                </a:tc>
                <a:tc>
                  <a:txBody>
                    <a:bodyPr/>
                    <a:lstStyle/>
                    <a:p>
                      <a:pPr>
                        <a:defRPr sz="1000" b="1"/>
                      </a:pPr>
                      <a:r>
                        <a:t>SFT-v2</a:t>
                      </a:r>
                    </a:p>
                  </a:txBody>
                  <a:tcPr/>
                </a:tc>
                <a:tc>
                  <a:txBody>
                    <a:bodyPr/>
                    <a:lstStyle/>
                    <a:p>
                      <a:pPr>
                        <a:defRPr sz="1000" b="1"/>
                      </a:pPr>
                      <a:r>
                        <a:t>HF-Aug</a:t>
                      </a:r>
                    </a:p>
                  </a:txBody>
                  <a:tcPr/>
                </a:tc>
                <a:tc>
                  <a:txBody>
                    <a:bodyPr/>
                    <a:lstStyle/>
                    <a:p>
                      <a:pPr>
                        <a:defRPr sz="1000" b="1"/>
                      </a:pPr>
                      <a:r>
                        <a:t>MVGen-96k</a:t>
                      </a:r>
                    </a:p>
                  </a:txBody>
                  <a:tcPr/>
                </a:tc>
              </a:tr>
              <a:tr h="319430">
                <a:tc>
                  <a:txBody>
                    <a:bodyPr/>
                    <a:lstStyle/>
                    <a:p>
                      <a:pPr>
                        <a:defRPr sz="900"/>
                      </a:pPr>
                      <a:r>
                        <a:t>height_higher</a:t>
                      </a:r>
                    </a:p>
                  </a:txBody>
                  <a:tcPr/>
                </a:tc>
                <a:tc>
                  <a:txBody>
                    <a:bodyPr/>
                    <a:lstStyle/>
                    <a:p>
                      <a:pPr>
                        <a:defRPr sz="900"/>
                      </a:pPr>
                      <a:r>
                        <a:t>46.2</a:t>
                      </a:r>
                    </a:p>
                  </a:txBody>
                  <a:tcPr/>
                </a:tc>
                <a:tc>
                  <a:txBody>
                    <a:bodyPr/>
                    <a:lstStyle/>
                    <a:p>
                      <a:pPr>
                        <a:defRPr sz="900"/>
                      </a:pPr>
                      <a:r>
                        <a:t>57.9</a:t>
                      </a:r>
                    </a:p>
                  </a:txBody>
                  <a:tcPr/>
                </a:tc>
                <a:tc>
                  <a:txBody>
                    <a:bodyPr/>
                    <a:lstStyle/>
                    <a:p>
                      <a:pPr>
                        <a:defRPr sz="900"/>
                      </a:pPr>
                      <a:r>
                        <a:t>61.7</a:t>
                      </a:r>
                    </a:p>
                  </a:txBody>
                  <a:tcPr/>
                </a:tc>
                <a:tc>
                  <a:txBody>
                    <a:bodyPr/>
                    <a:lstStyle/>
                    <a:p>
                      <a:pPr>
                        <a:defRPr sz="900"/>
                      </a:pPr>
                      <a:r>
                        <a:t>46.8</a:t>
                      </a:r>
                    </a:p>
                  </a:txBody>
                  <a:tcPr/>
                </a:tc>
              </a:tr>
              <a:tr h="319430">
                <a:tc>
                  <a:txBody>
                    <a:bodyPr/>
                    <a:lstStyle/>
                    <a:p>
                      <a:pPr>
                        <a:defRPr sz="900"/>
                      </a:pPr>
                      <a:r>
                        <a:t>location_above</a:t>
                      </a:r>
                    </a:p>
                  </a:txBody>
                  <a:tcPr/>
                </a:tc>
                <a:tc>
                  <a:txBody>
                    <a:bodyPr/>
                    <a:lstStyle/>
                    <a:p>
                      <a:pPr>
                        <a:defRPr sz="900"/>
                      </a:pPr>
                      <a:r>
                        <a:t>48.9</a:t>
                      </a:r>
                    </a:p>
                  </a:txBody>
                  <a:tcPr/>
                </a:tc>
                <a:tc>
                  <a:txBody>
                    <a:bodyPr/>
                    <a:lstStyle/>
                    <a:p>
                      <a:pPr>
                        <a:defRPr sz="900"/>
                      </a:pPr>
                      <a:r>
                        <a:t>61.6</a:t>
                      </a:r>
                    </a:p>
                  </a:txBody>
                  <a:tcPr/>
                </a:tc>
                <a:tc>
                  <a:txBody>
                    <a:bodyPr/>
                    <a:lstStyle/>
                    <a:p>
                      <a:pPr>
                        <a:defRPr sz="900"/>
                      </a:pPr>
                      <a:r>
                        <a:t>65.5</a:t>
                      </a:r>
                    </a:p>
                  </a:txBody>
                  <a:tcPr/>
                </a:tc>
                <a:tc>
                  <a:txBody>
                    <a:bodyPr/>
                    <a:lstStyle/>
                    <a:p>
                      <a:pPr>
                        <a:defRPr sz="900"/>
                      </a:pPr>
                      <a:r>
                        <a:t>59.8</a:t>
                      </a:r>
                    </a:p>
                  </a:txBody>
                  <a:tcPr/>
                </a:tc>
              </a:tr>
              <a:tr h="319430">
                <a:tc>
                  <a:txBody>
                    <a:bodyPr/>
                    <a:lstStyle/>
                    <a:p>
                      <a:pPr>
                        <a:defRPr sz="900"/>
                      </a:pPr>
                      <a:r>
                        <a:t>location_closer_to_camera</a:t>
                      </a:r>
                    </a:p>
                  </a:txBody>
                  <a:tcPr/>
                </a:tc>
                <a:tc>
                  <a:txBody>
                    <a:bodyPr/>
                    <a:lstStyle/>
                    <a:p>
                      <a:pPr>
                        <a:defRPr sz="900"/>
                      </a:pPr>
                      <a:r>
                        <a:t>69.8</a:t>
                      </a:r>
                    </a:p>
                  </a:txBody>
                  <a:tcPr/>
                </a:tc>
                <a:tc>
                  <a:txBody>
                    <a:bodyPr/>
                    <a:lstStyle/>
                    <a:p>
                      <a:pPr>
                        <a:defRPr sz="900"/>
                      </a:pPr>
                      <a:r>
                        <a:t>81.7</a:t>
                      </a:r>
                    </a:p>
                  </a:txBody>
                  <a:tcPr/>
                </a:tc>
                <a:tc>
                  <a:txBody>
                    <a:bodyPr/>
                    <a:lstStyle/>
                    <a:p>
                      <a:pPr>
                        <a:defRPr sz="900"/>
                      </a:pPr>
                      <a:r>
                        <a:t>82.7</a:t>
                      </a:r>
                    </a:p>
                  </a:txBody>
                  <a:tcPr/>
                </a:tc>
                <a:tc>
                  <a:txBody>
                    <a:bodyPr/>
                    <a:lstStyle/>
                    <a:p>
                      <a:pPr>
                        <a:defRPr sz="900"/>
                      </a:pPr>
                      <a:r>
                        <a:t>72.3</a:t>
                      </a:r>
                    </a:p>
                  </a:txBody>
                  <a:tcPr/>
                </a:tc>
              </a:tr>
              <a:tr h="319430">
                <a:tc>
                  <a:txBody>
                    <a:bodyPr/>
                    <a:lstStyle/>
                    <a:p>
                      <a:pPr>
                        <a:defRPr sz="900"/>
                      </a:pPr>
                      <a:r>
                        <a:t>location_next_to</a:t>
                      </a:r>
                    </a:p>
                  </a:txBody>
                  <a:tcPr/>
                </a:tc>
                <a:tc>
                  <a:txBody>
                    <a:bodyPr/>
                    <a:lstStyle/>
                    <a:p>
                      <a:pPr>
                        <a:defRPr sz="900"/>
                      </a:pPr>
                      <a:r>
                        <a:t>63.1</a:t>
                      </a:r>
                    </a:p>
                  </a:txBody>
                  <a:tcPr/>
                </a:tc>
                <a:tc>
                  <a:txBody>
                    <a:bodyPr/>
                    <a:lstStyle/>
                    <a:p>
                      <a:pPr>
                        <a:defRPr sz="900"/>
                      </a:pPr>
                      <a:r>
                        <a:t>75.1</a:t>
                      </a:r>
                    </a:p>
                  </a:txBody>
                  <a:tcPr/>
                </a:tc>
                <a:tc>
                  <a:txBody>
                    <a:bodyPr/>
                    <a:lstStyle/>
                    <a:p>
                      <a:pPr>
                        <a:defRPr sz="900"/>
                      </a:pPr>
                      <a:r>
                        <a:t>74.5</a:t>
                      </a:r>
                    </a:p>
                  </a:txBody>
                  <a:tcPr/>
                </a:tc>
                <a:tc>
                  <a:txBody>
                    <a:bodyPr/>
                    <a:lstStyle/>
                    <a:p>
                      <a:pPr>
                        <a:defRPr sz="900"/>
                      </a:pPr>
                      <a:r>
                        <a:t>54.1</a:t>
                      </a:r>
                    </a:p>
                  </a:txBody>
                  <a:tcPr/>
                </a:tc>
              </a:tr>
              <a:tr h="319430">
                <a:tc>
                  <a:txBody>
                    <a:bodyPr/>
                    <a:lstStyle/>
                    <a:p>
                      <a:pPr>
                        <a:defRPr sz="900"/>
                      </a:pPr>
                      <a:r>
                        <a:t>multi_object_closer_to</a:t>
                      </a:r>
                    </a:p>
                  </a:txBody>
                  <a:tcPr/>
                </a:tc>
                <a:tc>
                  <a:txBody>
                    <a:bodyPr/>
                    <a:lstStyle/>
                    <a:p>
                      <a:pPr>
                        <a:defRPr sz="900"/>
                      </a:pPr>
                      <a:r>
                        <a:t>58.0</a:t>
                      </a:r>
                    </a:p>
                  </a:txBody>
                  <a:tcPr/>
                </a:tc>
                <a:tc>
                  <a:txBody>
                    <a:bodyPr/>
                    <a:lstStyle/>
                    <a:p>
                      <a:pPr>
                        <a:defRPr sz="900"/>
                      </a:pPr>
                      <a:r>
                        <a:t>68.9</a:t>
                      </a:r>
                    </a:p>
                  </a:txBody>
                  <a:tcPr/>
                </a:tc>
                <a:tc>
                  <a:txBody>
                    <a:bodyPr/>
                    <a:lstStyle/>
                    <a:p>
                      <a:pPr>
                        <a:defRPr sz="900"/>
                      </a:pPr>
                      <a:r>
                        <a:t>69.9</a:t>
                      </a:r>
                    </a:p>
                  </a:txBody>
                  <a:tcPr/>
                </a:tc>
                <a:tc>
                  <a:txBody>
                    <a:bodyPr/>
                    <a:lstStyle/>
                    <a:p>
                      <a:pPr>
                        <a:defRPr sz="900"/>
                      </a:pPr>
                      <a:r>
                        <a:t>53.0</a:t>
                      </a:r>
                    </a:p>
                  </a:txBody>
                  <a:tcPr/>
                </a:tc>
              </a:tr>
              <a:tr h="319430">
                <a:tc>
                  <a:txBody>
                    <a:bodyPr/>
                    <a:lstStyle/>
                    <a:p>
                      <a:pPr>
                        <a:defRPr sz="900"/>
                      </a:pPr>
                      <a:r>
                        <a:t>multi_object_facing</a:t>
                      </a:r>
                    </a:p>
                  </a:txBody>
                  <a:tcPr/>
                </a:tc>
                <a:tc>
                  <a:txBody>
                    <a:bodyPr/>
                    <a:lstStyle/>
                    <a:p>
                      <a:pPr>
                        <a:defRPr sz="900"/>
                      </a:pPr>
                      <a:r>
                        <a:t>55.8</a:t>
                      </a:r>
                    </a:p>
                  </a:txBody>
                  <a:tcPr/>
                </a:tc>
                <a:tc>
                  <a:txBody>
                    <a:bodyPr/>
                    <a:lstStyle/>
                    <a:p>
                      <a:pPr>
                        <a:defRPr sz="900"/>
                      </a:pPr>
                      <a:r>
                        <a:t>65.3</a:t>
                      </a:r>
                    </a:p>
                  </a:txBody>
                  <a:tcPr/>
                </a:tc>
                <a:tc>
                  <a:txBody>
                    <a:bodyPr/>
                    <a:lstStyle/>
                    <a:p>
                      <a:pPr>
                        <a:defRPr sz="900"/>
                      </a:pPr>
                      <a:r>
                        <a:t>64.9</a:t>
                      </a:r>
                    </a:p>
                  </a:txBody>
                  <a:tcPr/>
                </a:tc>
                <a:tc>
                  <a:txBody>
                    <a:bodyPr/>
                    <a:lstStyle/>
                    <a:p>
                      <a:pPr>
                        <a:defRPr sz="900"/>
                      </a:pPr>
                      <a:r>
                        <a:t>62.4</a:t>
                      </a:r>
                    </a:p>
                  </a:txBody>
                  <a:tcPr/>
                </a:tc>
              </a:tr>
              <a:tr h="319430">
                <a:tc>
                  <a:txBody>
                    <a:bodyPr/>
                    <a:lstStyle/>
                    <a:p>
                      <a:pPr>
                        <a:defRPr sz="900"/>
                      </a:pPr>
                      <a:r>
                        <a:t>multi_object_parallel</a:t>
                      </a:r>
                    </a:p>
                  </a:txBody>
                  <a:tcPr/>
                </a:tc>
                <a:tc>
                  <a:txBody>
                    <a:bodyPr/>
                    <a:lstStyle/>
                    <a:p>
                      <a:pPr>
                        <a:defRPr sz="900"/>
                      </a:pPr>
                      <a:r>
                        <a:t>52.7</a:t>
                      </a:r>
                    </a:p>
                  </a:txBody>
                  <a:tcPr/>
                </a:tc>
                <a:tc>
                  <a:txBody>
                    <a:bodyPr/>
                    <a:lstStyle/>
                    <a:p>
                      <a:pPr>
                        <a:defRPr sz="900"/>
                      </a:pPr>
                      <a:r>
                        <a:t>48.5</a:t>
                      </a:r>
                    </a:p>
                  </a:txBody>
                  <a:tcPr/>
                </a:tc>
                <a:tc>
                  <a:txBody>
                    <a:bodyPr/>
                    <a:lstStyle/>
                    <a:p>
                      <a:pPr>
                        <a:defRPr sz="900"/>
                      </a:pPr>
                      <a:r>
                        <a:t>50.7</a:t>
                      </a:r>
                    </a:p>
                  </a:txBody>
                  <a:tcPr/>
                </a:tc>
                <a:tc>
                  <a:txBody>
                    <a:bodyPr/>
                    <a:lstStyle/>
                    <a:p>
                      <a:pPr>
                        <a:defRPr sz="900"/>
                      </a:pPr>
                      <a:r>
                        <a:t>51.5</a:t>
                      </a:r>
                    </a:p>
                  </a:txBody>
                  <a:tcPr/>
                </a:tc>
              </a:tr>
              <a:tr h="319430">
                <a:tc>
                  <a:txBody>
                    <a:bodyPr/>
                    <a:lstStyle/>
                    <a:p>
                      <a:pPr>
                        <a:defRPr sz="900"/>
                      </a:pPr>
                      <a:r>
                        <a:t>multi_object_same_direction</a:t>
                      </a:r>
                    </a:p>
                  </a:txBody>
                  <a:tcPr/>
                </a:tc>
                <a:tc>
                  <a:txBody>
                    <a:bodyPr/>
                    <a:lstStyle/>
                    <a:p>
                      <a:pPr>
                        <a:defRPr sz="900"/>
                      </a:pPr>
                      <a:r>
                        <a:t>46.2</a:t>
                      </a:r>
                    </a:p>
                  </a:txBody>
                  <a:tcPr/>
                </a:tc>
                <a:tc>
                  <a:txBody>
                    <a:bodyPr/>
                    <a:lstStyle/>
                    <a:p>
                      <a:pPr>
                        <a:defRPr sz="900"/>
                      </a:pPr>
                      <a:r>
                        <a:t>48.5</a:t>
                      </a:r>
                    </a:p>
                  </a:txBody>
                  <a:tcPr/>
                </a:tc>
                <a:tc>
                  <a:txBody>
                    <a:bodyPr/>
                    <a:lstStyle/>
                    <a:p>
                      <a:pPr>
                        <a:defRPr sz="900"/>
                      </a:pPr>
                      <a:r>
                        <a:t>50.7</a:t>
                      </a:r>
                    </a:p>
                  </a:txBody>
                  <a:tcPr/>
                </a:tc>
                <a:tc>
                  <a:txBody>
                    <a:bodyPr/>
                    <a:lstStyle/>
                    <a:p>
                      <a:pPr>
                        <a:defRPr sz="900"/>
                      </a:pPr>
                      <a:r>
                        <a:t>52.0</a:t>
                      </a:r>
                    </a:p>
                  </a:txBody>
                  <a:tcPr/>
                </a:tc>
              </a:tr>
              <a:tr h="319430">
                <a:tc>
                  <a:txBody>
                    <a:bodyPr/>
                    <a:lstStyle/>
                    <a:p>
                      <a:pPr>
                        <a:defRPr sz="900"/>
                      </a:pPr>
                      <a:r>
                        <a:t>multi_object_viewpoint_towards_object</a:t>
                      </a:r>
                    </a:p>
                  </a:txBody>
                  <a:tcPr/>
                </a:tc>
                <a:tc>
                  <a:txBody>
                    <a:bodyPr/>
                    <a:lstStyle/>
                    <a:p>
                      <a:pPr>
                        <a:defRPr sz="900"/>
                      </a:pPr>
                      <a:r>
                        <a:t>24.9</a:t>
                      </a:r>
                    </a:p>
                  </a:txBody>
                  <a:tcPr/>
                </a:tc>
                <a:tc>
                  <a:txBody>
                    <a:bodyPr/>
                    <a:lstStyle/>
                    <a:p>
                      <a:pPr>
                        <a:defRPr sz="900"/>
                      </a:pPr>
                      <a:r>
                        <a:t>35.9</a:t>
                      </a:r>
                    </a:p>
                  </a:txBody>
                  <a:tcPr/>
                </a:tc>
                <a:tc>
                  <a:txBody>
                    <a:bodyPr/>
                    <a:lstStyle/>
                    <a:p>
                      <a:pPr>
                        <a:defRPr sz="900"/>
                      </a:pPr>
                      <a:r>
                        <a:t>39.4</a:t>
                      </a:r>
                    </a:p>
                  </a:txBody>
                  <a:tcPr/>
                </a:tc>
                <a:tc>
                  <a:txBody>
                    <a:bodyPr/>
                    <a:lstStyle/>
                    <a:p>
                      <a:pPr>
                        <a:defRPr sz="900"/>
                      </a:pPr>
                      <a:r>
                        <a:t>23.0</a:t>
                      </a:r>
                    </a:p>
                  </a:txBody>
                  <a:tcPr/>
                </a:tc>
              </a:tr>
              <a:tr h="319430">
                <a:tc>
                  <a:txBody>
                    <a:bodyPr/>
                    <a:lstStyle/>
                    <a:p>
                      <a:pPr>
                        <a:defRPr sz="900"/>
                      </a:pPr>
                      <a:r>
                        <a:t>orientation_in_front_of</a:t>
                      </a:r>
                    </a:p>
                  </a:txBody>
                  <a:tcPr/>
                </a:tc>
                <a:tc>
                  <a:txBody>
                    <a:bodyPr/>
                    <a:lstStyle/>
                    <a:p>
                      <a:pPr>
                        <a:defRPr sz="900"/>
                      </a:pPr>
                      <a:r>
                        <a:t>56.0</a:t>
                      </a:r>
                    </a:p>
                  </a:txBody>
                  <a:tcPr/>
                </a:tc>
                <a:tc>
                  <a:txBody>
                    <a:bodyPr/>
                    <a:lstStyle/>
                    <a:p>
                      <a:pPr>
                        <a:defRPr sz="900"/>
                      </a:pPr>
                      <a:r>
                        <a:t>63.2</a:t>
                      </a:r>
                    </a:p>
                  </a:txBody>
                  <a:tcPr/>
                </a:tc>
                <a:tc>
                  <a:txBody>
                    <a:bodyPr/>
                    <a:lstStyle/>
                    <a:p>
                      <a:pPr>
                        <a:defRPr sz="900"/>
                      </a:pPr>
                      <a:r>
                        <a:t>65.7</a:t>
                      </a:r>
                    </a:p>
                  </a:txBody>
                  <a:tcPr/>
                </a:tc>
                <a:tc>
                  <a:txBody>
                    <a:bodyPr/>
                    <a:lstStyle/>
                    <a:p>
                      <a:pPr>
                        <a:defRPr sz="900"/>
                      </a:pPr>
                      <a:r>
                        <a:t>60.3</a:t>
                      </a:r>
                    </a:p>
                  </a:txBody>
                  <a:tcPr/>
                </a:tc>
              </a:tr>
              <a:tr h="319430">
                <a:tc>
                  <a:txBody>
                    <a:bodyPr/>
                    <a:lstStyle/>
                    <a:p>
                      <a:pPr>
                        <a:defRPr sz="900"/>
                      </a:pPr>
                      <a:r>
                        <a:t>orientation_on_the_left</a:t>
                      </a:r>
                    </a:p>
                  </a:txBody>
                  <a:tcPr/>
                </a:tc>
                <a:tc>
                  <a:txBody>
                    <a:bodyPr/>
                    <a:lstStyle/>
                    <a:p>
                      <a:pPr>
                        <a:defRPr sz="900"/>
                      </a:pPr>
                      <a:r>
                        <a:t>32.8</a:t>
                      </a:r>
                    </a:p>
                  </a:txBody>
                  <a:tcPr/>
                </a:tc>
                <a:tc>
                  <a:txBody>
                    <a:bodyPr/>
                    <a:lstStyle/>
                    <a:p>
                      <a:pPr>
                        <a:defRPr sz="900"/>
                      </a:pPr>
                      <a:r>
                        <a:t>66.3</a:t>
                      </a:r>
                    </a:p>
                  </a:txBody>
                  <a:tcPr/>
                </a:tc>
                <a:tc>
                  <a:txBody>
                    <a:bodyPr/>
                    <a:lstStyle/>
                    <a:p>
                      <a:pPr>
                        <a:defRPr sz="900"/>
                      </a:pPr>
                      <a:r>
                        <a:t>64.5</a:t>
                      </a:r>
                    </a:p>
                  </a:txBody>
                  <a:tcPr/>
                </a:tc>
                <a:tc>
                  <a:txBody>
                    <a:bodyPr/>
                    <a:lstStyle/>
                    <a:p>
                      <a:pPr>
                        <a:defRPr sz="900"/>
                      </a:pPr>
                      <a:r>
                        <a:t>37.2</a:t>
                      </a:r>
                    </a:p>
                  </a:txBody>
                  <a:tcPr/>
                </a:tc>
              </a:tr>
              <a:tr h="319430">
                <a:tc>
                  <a:txBody>
                    <a:bodyPr/>
                    <a:lstStyle/>
                    <a:p>
                      <a:pPr>
                        <a:defRPr sz="900"/>
                      </a:pPr>
                      <a:r>
                        <a:t>orientation_viewpoint</a:t>
                      </a:r>
                    </a:p>
                  </a:txBody>
                  <a:tcPr/>
                </a:tc>
                <a:tc>
                  <a:txBody>
                    <a:bodyPr/>
                    <a:lstStyle/>
                    <a:p>
                      <a:pPr>
                        <a:defRPr sz="900"/>
                      </a:pPr>
                      <a:r>
                        <a:t>38.6</a:t>
                      </a:r>
                    </a:p>
                  </a:txBody>
                  <a:tcPr/>
                </a:tc>
                <a:tc>
                  <a:txBody>
                    <a:bodyPr/>
                    <a:lstStyle/>
                    <a:p>
                      <a:pPr>
                        <a:defRPr sz="900"/>
                      </a:pPr>
                      <a:r>
                        <a:t>38.3</a:t>
                      </a:r>
                    </a:p>
                  </a:txBody>
                  <a:tcPr/>
                </a:tc>
                <a:tc>
                  <a:txBody>
                    <a:bodyPr/>
                    <a:lstStyle/>
                    <a:p>
                      <a:pPr>
                        <a:defRPr sz="900"/>
                      </a:pPr>
                      <a:r>
                        <a:t>41.6</a:t>
                      </a:r>
                    </a:p>
                  </a:txBody>
                  <a:tcPr/>
                </a:tc>
                <a:tc>
                  <a:txBody>
                    <a:bodyPr/>
                    <a:lstStyle/>
                    <a:p>
                      <a:pPr>
                        <a:defRPr sz="900"/>
                      </a:pPr>
                      <a:r>
                        <a:t>38.0</a:t>
                      </a:r>
                    </a:p>
                  </a:txBody>
                  <a:tcPr/>
                </a:tc>
              </a:tr>
              <a:tr h="319441">
                <a:tc>
                  <a:txBody>
                    <a:bodyPr/>
                    <a:lstStyle/>
                    <a:p>
                      <a:pPr>
                        <a:defRPr sz="900"/>
                      </a:pPr>
                      <a:r>
                        <a:t>OVERALL</a:t>
                      </a:r>
                    </a:p>
                  </a:txBody>
                  <a:tcPr/>
                </a:tc>
                <a:tc>
                  <a:txBody>
                    <a:bodyPr/>
                    <a:lstStyle/>
                    <a:p>
                      <a:pPr>
                        <a:defRPr sz="900"/>
                      </a:pPr>
                      <a:r>
                        <a:t>48.3</a:t>
                      </a:r>
                    </a:p>
                  </a:txBody>
                  <a:tcPr/>
                </a:tc>
                <a:tc>
                  <a:txBody>
                    <a:bodyPr/>
                    <a:lstStyle/>
                    <a:p>
                      <a:pPr>
                        <a:defRPr sz="900"/>
                      </a:pPr>
                      <a:r>
                        <a:t>58.0</a:t>
                      </a:r>
                    </a:p>
                  </a:txBody>
                  <a:tcPr/>
                </a:tc>
                <a:tc>
                  <a:txBody>
                    <a:bodyPr/>
                    <a:lstStyle/>
                    <a:p>
                      <a:pPr>
                        <a:defRPr sz="900"/>
                      </a:pPr>
                      <a:r>
                        <a:t>60.1</a:t>
                      </a:r>
                    </a:p>
                  </a:txBody>
                  <a:tcPr/>
                </a:tc>
                <a:tc>
                  <a:txBody>
                    <a:bodyPr/>
                    <a:lstStyle/>
                    <a:p>
                      <a:pPr>
                        <a:defRPr sz="900"/>
                      </a:pPr>
                      <a:r>
                        <a:t>50.0</a:t>
                      </a:r>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048D4E4C-34FC-4FF0-957A-015A6EE2F6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ko" smtClean="0"/>
              <a:t>18</a:t>
            </a:fld>
            <a:endParaRPr lang="ko" altLang="en-US"/>
          </a:p>
        </p:txBody>
      </p:sp>
      <p:sp>
        <p:nvSpPr>
          <p:cNvPr id="5" name="Google Shape;178;p24">
            <a:extLst>
              <a:ext uri="{FF2B5EF4-FFF2-40B4-BE49-F238E27FC236}">
                <a16:creationId xmlns:a16="http://schemas.microsoft.com/office/drawing/2014/main" id="{22F78DDF-43D5-41F1-A30F-14B60D429DE0}"/>
              </a:ext>
            </a:extLst>
          </p:cNvPr>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ko" dirty="0"/>
              <a:t>Results analysis</a:t>
            </a:r>
            <a:endParaRPr dirty="0"/>
          </a:p>
        </p:txBody>
      </p:sp>
      <p:sp>
        <p:nvSpPr>
          <p:cNvPr id="11" name="TextBox 10">
            <a:extLst>
              <a:ext uri="{FF2B5EF4-FFF2-40B4-BE49-F238E27FC236}">
                <a16:creationId xmlns:a16="http://schemas.microsoft.com/office/drawing/2014/main" id="{783A9B9B-BE44-4EE1-A907-EDA3C4FE12AD}"/>
              </a:ext>
            </a:extLst>
          </p:cNvPr>
          <p:cNvSpPr txBox="1"/>
          <p:nvPr/>
        </p:nvSpPr>
        <p:spPr>
          <a:xfrm>
            <a:off x="225811" y="1028362"/>
            <a:ext cx="8246647" cy="3108543"/>
          </a:xfrm>
          <a:prstGeom prst="rect">
            <a:avLst/>
          </a:prstGeom>
          <a:noFill/>
        </p:spPr>
        <p:txBody>
          <a:bodyPr wrap="square">
            <a:spAutoFit/>
          </a:bodyPr>
          <a:lstStyle/>
          <a:p>
            <a:r>
              <a:rPr lang="en-US" altLang="ko-KR" b="1" dirty="0"/>
              <a:t>Resolution mismatch</a:t>
            </a:r>
            <a:br>
              <a:rPr lang="en-US" altLang="ko-KR" dirty="0"/>
            </a:br>
            <a:r>
              <a:rPr lang="en-US" altLang="ko-KR" dirty="0"/>
              <a:t>The model is trained on low-resolution images (576×384) but evaluated on high-resolution images (1024×768), causing a significant loss of fine-grained visual details.</a:t>
            </a:r>
          </a:p>
          <a:p>
            <a:endParaRPr lang="en-US" altLang="ko-KR" dirty="0"/>
          </a:p>
          <a:p>
            <a:r>
              <a:rPr lang="en-US" altLang="ko-KR" b="1" dirty="0"/>
              <a:t>Data distribution imbalance</a:t>
            </a:r>
            <a:br>
              <a:rPr lang="en-US" altLang="ko-KR" dirty="0"/>
            </a:br>
            <a:r>
              <a:rPr lang="en-US" altLang="ko-KR" dirty="0"/>
              <a:t>Augmented rotated images dominate the training set, causing overfitting to rotated low-resolution views and poor generalization to original test images.</a:t>
            </a:r>
          </a:p>
          <a:p>
            <a:endParaRPr lang="en-US" altLang="ko-KR" dirty="0"/>
          </a:p>
          <a:p>
            <a:r>
              <a:rPr lang="en-US" altLang="ko-KR" b="1" dirty="0"/>
              <a:t>Viewpoint–label inconsistency (</a:t>
            </a:r>
            <a:r>
              <a:rPr lang="en-US" altLang="ko-KR" sz="1400" b="1" dirty="0">
                <a:effectLst/>
              </a:rPr>
              <a:t>MVGen-96k</a:t>
            </a:r>
            <a:r>
              <a:rPr lang="en-US" altLang="ko-KR" b="1" dirty="0"/>
              <a:t>)</a:t>
            </a:r>
            <a:br>
              <a:rPr lang="en-US" altLang="ko-KR" dirty="0"/>
            </a:br>
            <a:r>
              <a:rPr lang="en-US" altLang="ko-KR" dirty="0"/>
              <a:t>Although images are generated from different viewpoints (10°, 20°, 30°), the ground-truth answers remain identical, leading the model to incorrectly learn viewpoint-invariant labels.</a:t>
            </a:r>
          </a:p>
          <a:p>
            <a:endParaRPr lang="en-US" altLang="ko-KR" dirty="0"/>
          </a:p>
          <a:p>
            <a:r>
              <a:rPr lang="en-US" altLang="ko-KR" b="1" dirty="0"/>
              <a:t>No chain-of-thought (</a:t>
            </a:r>
            <a:r>
              <a:rPr lang="en-US" altLang="ko-KR" b="1" dirty="0" err="1"/>
              <a:t>CoT</a:t>
            </a:r>
            <a:r>
              <a:rPr lang="en-US" altLang="ko-KR" b="1" dirty="0"/>
              <a:t>) augmentation was applied. (</a:t>
            </a:r>
            <a:r>
              <a:rPr lang="en-US" altLang="ko-KR" sz="1400" b="1" dirty="0"/>
              <a:t>HF-Aug</a:t>
            </a:r>
            <a:r>
              <a:rPr lang="en-US" altLang="ko-KR" b="1" dirty="0"/>
              <a:t>)</a:t>
            </a:r>
            <a:endParaRPr lang="en-US" altLang="ko-KR" dirty="0"/>
          </a:p>
          <a:p>
            <a:endParaRPr lang="ko-KR" altLang="en-US" dirty="0"/>
          </a:p>
        </p:txBody>
      </p:sp>
    </p:spTree>
    <p:extLst>
      <p:ext uri="{BB962C8B-B14F-4D97-AF65-F5344CB8AC3E}">
        <p14:creationId xmlns:p14="http://schemas.microsoft.com/office/powerpoint/2010/main" val="2080551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5"/>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ko" dirty="0"/>
              <a:t>L</a:t>
            </a:r>
            <a:r>
              <a:rPr lang="ko" dirty="0"/>
              <a:t>imitation, </a:t>
            </a:r>
            <a:r>
              <a:rPr lang="en-US" altLang="ko" dirty="0"/>
              <a:t>F</a:t>
            </a:r>
            <a:r>
              <a:rPr lang="ko" dirty="0"/>
              <a:t>uture work</a:t>
            </a:r>
            <a:endParaRPr dirty="0"/>
          </a:p>
        </p:txBody>
      </p:sp>
      <p:sp>
        <p:nvSpPr>
          <p:cNvPr id="187" name="Google Shape;18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19</a:t>
            </a:fld>
            <a:endParaRPr/>
          </a:p>
        </p:txBody>
      </p:sp>
      <p:sp>
        <p:nvSpPr>
          <p:cNvPr id="6" name="TextBox 5">
            <a:extLst>
              <a:ext uri="{FF2B5EF4-FFF2-40B4-BE49-F238E27FC236}">
                <a16:creationId xmlns:a16="http://schemas.microsoft.com/office/drawing/2014/main" id="{88619116-1F27-453A-8C28-F01E0DCCD57E}"/>
              </a:ext>
            </a:extLst>
          </p:cNvPr>
          <p:cNvSpPr txBox="1"/>
          <p:nvPr/>
        </p:nvSpPr>
        <p:spPr>
          <a:xfrm>
            <a:off x="116897" y="797215"/>
            <a:ext cx="8286805" cy="1323439"/>
          </a:xfrm>
          <a:prstGeom prst="rect">
            <a:avLst/>
          </a:prstGeom>
          <a:noFill/>
        </p:spPr>
        <p:txBody>
          <a:bodyPr wrap="square">
            <a:spAutoFit/>
          </a:bodyPr>
          <a:lstStyle/>
          <a:p>
            <a:r>
              <a:rPr lang="en-US" altLang="ko-KR" sz="1600" dirty="0"/>
              <a:t>The quality of the dataset is </a:t>
            </a:r>
            <a:r>
              <a:rPr lang="en-US" altLang="ko-KR" sz="1600" b="1" dirty="0"/>
              <a:t>highly dependent </a:t>
            </a:r>
            <a:r>
              <a:rPr lang="en-US" altLang="ko-KR" sz="1600" dirty="0"/>
              <a:t>on the generation quality of </a:t>
            </a:r>
            <a:r>
              <a:rPr lang="en-US" altLang="ko-KR" sz="1600" dirty="0" err="1"/>
              <a:t>MVGenMaster</a:t>
            </a:r>
            <a:r>
              <a:rPr lang="en-US" altLang="ko-KR" sz="1600" dirty="0"/>
              <a:t>; in some cases, objects disappear in the generated images.</a:t>
            </a:r>
          </a:p>
          <a:p>
            <a:br>
              <a:rPr lang="en-US" altLang="ko-KR" sz="1600" dirty="0"/>
            </a:br>
            <a:r>
              <a:rPr lang="en-US" altLang="ko-KR" sz="1600" dirty="0"/>
              <a:t>Moreover, even novel views guided by depth-based spatial structure can </a:t>
            </a:r>
            <a:r>
              <a:rPr lang="en-US" altLang="ko-KR" sz="1600" b="1" dirty="0"/>
              <a:t>still contain geometric errors.</a:t>
            </a:r>
            <a:endParaRPr lang="ko-KR" altLang="en-US" sz="1600" b="1" dirty="0"/>
          </a:p>
        </p:txBody>
      </p:sp>
      <p:sp>
        <p:nvSpPr>
          <p:cNvPr id="8" name="TextBox 7">
            <a:extLst>
              <a:ext uri="{FF2B5EF4-FFF2-40B4-BE49-F238E27FC236}">
                <a16:creationId xmlns:a16="http://schemas.microsoft.com/office/drawing/2014/main" id="{84D593A9-1B48-404E-8071-AE4FB87EB011}"/>
              </a:ext>
            </a:extLst>
          </p:cNvPr>
          <p:cNvSpPr txBox="1"/>
          <p:nvPr/>
        </p:nvSpPr>
        <p:spPr>
          <a:xfrm>
            <a:off x="116897" y="2343244"/>
            <a:ext cx="8520600" cy="785343"/>
          </a:xfrm>
          <a:prstGeom prst="rect">
            <a:avLst/>
          </a:prstGeom>
          <a:noFill/>
        </p:spPr>
        <p:txBody>
          <a:bodyPr wrap="square">
            <a:spAutoFit/>
          </a:bodyPr>
          <a:lstStyle/>
          <a:p>
            <a:pPr>
              <a:lnSpc>
                <a:spcPct val="150000"/>
              </a:lnSpc>
            </a:pPr>
            <a:r>
              <a:rPr lang="en-US" altLang="ko-KR" sz="1600" dirty="0"/>
              <a:t>=&gt; To mitigate these issues, future work will explore incorporating </a:t>
            </a:r>
            <a:r>
              <a:rPr lang="en-US" altLang="ko-KR" sz="1600" b="1" dirty="0"/>
              <a:t>explicit spatial features </a:t>
            </a:r>
            <a:r>
              <a:rPr lang="en-US" altLang="ko-KR" sz="1600" dirty="0"/>
              <a:t>and </a:t>
            </a:r>
            <a:r>
              <a:rPr lang="en-US" altLang="ko-KR" sz="1600" b="1" dirty="0"/>
              <a:t>multi-view–based augmentation </a:t>
            </a:r>
            <a:r>
              <a:rPr lang="en-US" altLang="ko-KR" sz="1600" dirty="0"/>
              <a:t>to build higher-quality training datasets</a:t>
            </a:r>
            <a:endParaRPr lang="ko-KR" alt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6"/>
          <p:cNvSpPr txBox="1">
            <a:spLocks noGrp="1"/>
          </p:cNvSpPr>
          <p:nvPr>
            <p:ph type="title"/>
          </p:nvPr>
        </p:nvSpPr>
        <p:spPr>
          <a:xfrm>
            <a:off x="3724200" y="2285400"/>
            <a:ext cx="169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Thank you</a:t>
            </a:r>
            <a:endParaRPr/>
          </a:p>
        </p:txBody>
      </p:sp>
      <p:sp>
        <p:nvSpPr>
          <p:cNvPr id="193" name="Google Shape;193;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ko"/>
              <a:t>20</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TotalTime>
  <Words>3575</Words>
  <Application>Microsoft Macintosh PowerPoint</Application>
  <PresentationFormat>화면 슬라이드 쇼(16:9)</PresentationFormat>
  <Paragraphs>279</Paragraphs>
  <Slides>20</Slides>
  <Notes>19</Notes>
  <HiddenSlides>0</HiddenSlides>
  <MMClips>2</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20</vt:i4>
      </vt:variant>
    </vt:vector>
  </HeadingPairs>
  <TitlesOfParts>
    <vt:vector size="25" baseType="lpstr">
      <vt:lpstr>fkGroteskNeue</vt:lpstr>
      <vt:lpstr>Arial</vt:lpstr>
      <vt:lpstr>Consolas</vt:lpstr>
      <vt:lpstr>IBM Plex Mono</vt:lpstr>
      <vt:lpstr>Simple Light</vt:lpstr>
      <vt:lpstr>Enhancing 3D Spatial Reasoning in Vision-Language Models  through Multi-View Augmentation</vt:lpstr>
      <vt:lpstr>PowerPoint 프레젠테이션</vt:lpstr>
      <vt:lpstr>Vision-Language Model (VLM)</vt:lpstr>
      <vt:lpstr>Related Work (SpatialReasoner)</vt:lpstr>
      <vt:lpstr>Problem Statement</vt:lpstr>
      <vt:lpstr>Benchmark results table (3DSR)</vt:lpstr>
      <vt:lpstr>Proposed Method - novel view image augmentation </vt:lpstr>
      <vt:lpstr>Pipeline</vt:lpstr>
      <vt:lpstr>Data format </vt:lpstr>
      <vt:lpstr>Novel view image augmentation (MVGenMaster)</vt:lpstr>
      <vt:lpstr>Novel view image augmentation</vt:lpstr>
      <vt:lpstr>Spatial information editing (HF-Aug)</vt:lpstr>
      <vt:lpstr>Spatial information editing (MVGen-96k)</vt:lpstr>
      <vt:lpstr>Spatial information editing (MVGen-96k)</vt:lpstr>
      <vt:lpstr>Spatial information editing (MVGen-96k)</vt:lpstr>
      <vt:lpstr>Training </vt:lpstr>
      <vt:lpstr>Evaluation</vt:lpstr>
      <vt:lpstr>Results analysis</vt:lpstr>
      <vt:lpstr>Limitation, 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3D Spatial Reasoning in Vision-Language Models through Multi-View Augmentation and Quaternion-Based Representation</dc:title>
  <dc:creator>DaeyeonKim</dc:creator>
  <cp:lastModifiedBy>이승필</cp:lastModifiedBy>
  <cp:revision>46</cp:revision>
  <dcterms:modified xsi:type="dcterms:W3CDTF">2025-12-14T23:25:58Z</dcterms:modified>
</cp:coreProperties>
</file>